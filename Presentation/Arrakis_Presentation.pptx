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1017" autoAdjust="0"/>
  </p:normalViewPr>
  <p:slideViewPr>
    <p:cSldViewPr snapToGrid="0" snapToObjects="1">
      <p:cViewPr varScale="1">
        <p:scale>
          <a:sx n="49" d="100"/>
          <a:sy n="49" d="100"/>
        </p:scale>
        <p:origin x="2020"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8604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Introduce ARRAKIS: Harvester Down - Desert Rescue, a C++17 and OpenGL 3.3 core real-time graphics project. The player flies an ornithopter to rescue 36 harvester workers before and during a sandworm attack. Eight seats require repeated pickup and delivery trips; only workers delivered to the cyan base count as secured.</a:t>
            </a:r>
          </a:p>
          <a:p>
            <a:endParaRPr/>
          </a:p>
          <a:p>
            <a:r>
              <a:t>Point out: Identify the presenter as Asique Ehetasamul Haque, roll 2107096, Year 4, Semester 1, Group B2, Department of CSE, KUET. The course is CSE 4102, Computer Graphics and Image Processing Laboratory. Connect the desert scene to the three central goals: recognizable procedural objects, mathematical motion, and meaningful player interaction.</a:t>
            </a:r>
          </a:p>
          <a:p>
            <a:endParaRPr/>
          </a:p>
          <a:p>
            <a:r>
              <a:t>Demonstrate: Use the opening gameplay image to identify the aircraft, dunes, and worm threat. Slides 3-4 supply enlarged harvester and safe-base views. Describe the task rather than waiting for a full mission during the introduction.</a:t>
            </a:r>
          </a:p>
          <a:p>
            <a:endParaRPr/>
          </a:p>
          <a:p>
            <a:r>
              <a:t>Implementation: The application combines reusable generated meshes, GLSL shaders, mission state, custom HUD, and spatial audio. Source responsibilities are expanded on Slide 2.</a:t>
            </a:r>
          </a:p>
          <a:p>
            <a:endParaRPr/>
          </a:p>
          <a:p>
            <a:r>
              <a:t>Accuracy: The project models and visual surface details are generated in code, not imported models or image textures. This statement does not include the externally loaded audio files. The deck contains exactly ten slides; the existing demonstration video is external, not embedded.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Follow the presentation from object construction to curved geometry, coordinated motion, controls and cameras, rendering, feedback, and evaluation. The rescue loop is fly to an amber group, hover low and slowly, winch workers aboard, return to the cyan base, unload, and repeat while the worm closes in.</a:t>
            </a:r>
          </a:p>
          <a:p>
            <a:endParaRPr/>
          </a:p>
          <a:p>
            <a:r>
              <a:t>Point out: Link the source modules to that loop: src/arrakis.cpp owns meshes, object assembly, shaders, callbacks, and the render loop; arrakis_game.h owns mission and rescue rules; arrakis_worm.h owns the detailed worm; arrakis_hud.h owns instrumentation; arrakis_audio.h owns sound. Tests and CMake provide verification and build integration.</a:t>
            </a:r>
          </a:p>
          <a:p>
            <a:endParaRPr/>
          </a:p>
          <a:p>
            <a:r>
              <a:t>Demonstrate: Trace one frame through input, bounded mission updates, camera and audio updates, shadow depth rendering, procedural sky, lit opaque geometry, sorted transparent dust, HUD, and buffer swap. Distinguish CPU state updates from GPU vertex and fragment processing.</a:t>
            </a:r>
          </a:p>
          <a:p>
            <a:endParaRPr/>
          </a:p>
          <a:p>
            <a:r>
              <a:t>Implementation: Mesh positions, normals, UVs, and triangle indices are uploaded through VAO/VBO/EBO resources. Model, view, and projection matrices connect assembled objects to the camera, while the light-space matrix supports shadows.</a:t>
            </a:r>
          </a:p>
          <a:p>
            <a:endParaRPr/>
          </a:p>
          <a:p>
            <a:r>
              <a:t>Accuracy: The main scene renders directly to the default framebuffer. Tone mapping is inside the surface shader, not a separate bloom or post-processing pipeline. Later slides give the detailed evidence; this outline is not an extra feature slide.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Explain: This first object contact sheet inventories the environment and industrial vehicles. The terrain is a sampled continuous dune height field, the aircraft is an articulated assembly, the harvester is a moving crawler, and the tanks and rocks establish recognizable desert infrastructure. Different materials make reused primitives read as different objects rather than identical blocks.</a:t>
            </a:r>
          </a:p>
          <a:p>
            <a:endParaRPr dirty="0"/>
          </a:p>
          <a:p>
            <a:r>
              <a:rPr dirty="0"/>
              <a:t>Point out: On the aircraft, identify the ellipsoidal fuselage and canopy, forward sensor probe, intake cowls, wing gimbals, eight tapered </a:t>
            </a:r>
            <a:r>
              <a:rPr dirty="0" err="1"/>
              <a:t>aerofoil</a:t>
            </a:r>
            <a:r>
              <a:rPr dirty="0"/>
              <a:t> blades, twin turbines and nozzles, emissive exhaust, tail boom, V-tail, and landing skids. On the harvester, identify the hopper and refinery decks, four track units, road wheels, circulating tread pads, cutter drum, side exit ramp, separator funnels, bridge viewports, lamps, stacks, and spice-colored vent rims.</a:t>
            </a:r>
          </a:p>
          <a:p>
            <a:endParaRPr dirty="0"/>
          </a:p>
          <a:p>
            <a:r>
              <a:rPr dirty="0"/>
              <a:t>Demonstrate: Read the labels against the actual close-ups. The three pressure tanks use a horizontal cylinder, overlapping rounded end heads, reinforcing bands, hatch, relief valve, inclined cradle supports, skid beams, and an emissive sight tube. Each of eight rock sites assembles four differently transformed eroded-rock pieces with sediment-like shader bands. The terrain supports all these objects, rather than serving as a flat backdrop.</a:t>
            </a:r>
          </a:p>
          <a:p>
            <a:endParaRPr dirty="0"/>
          </a:p>
          <a:p>
            <a:r>
              <a:rPr dirty="0"/>
              <a:t>Implementation: </a:t>
            </a:r>
            <a:r>
              <a:rPr dirty="0" err="1"/>
              <a:t>src</a:t>
            </a:r>
            <a:r>
              <a:rPr dirty="0"/>
              <a:t>/arrakis.cpp builds cube, cylinder, UV sphere, wing, terrain, and eroded-rock meshes, then </a:t>
            </a:r>
            <a:r>
              <a:rPr dirty="0" err="1"/>
              <a:t>drawPart</a:t>
            </a:r>
            <a:r>
              <a:rPr dirty="0"/>
              <a:t> applies parent-relative translation, rotation, and scale. Startup uses </a:t>
            </a:r>
            <a:r>
              <a:rPr dirty="0" err="1"/>
              <a:t>createDuneTerrain</a:t>
            </a:r>
            <a:r>
              <a:rPr dirty="0"/>
              <a:t>(260,260,900): 68,121 vertices and 135,200 triangles. Cylinder caps have separate normals; rock triangles use faceted normals.</a:t>
            </a:r>
          </a:p>
          <a:p>
            <a:endParaRPr dirty="0"/>
          </a:p>
          <a:p>
            <a:r>
              <a:rPr dirty="0"/>
              <a:t>Accuracy: Contact-sheet close-ups are staged isolated views using the exact project draw routines and actual models, not independently remodeled illustrations or ordinary gameplay moments. Tank positions and sight-tube emission are constant; there is no player deployment or pulsing level simulation. The canopy and bridge glass are shiny opaque materials, and emissive lamps are not spotlights.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second object slide connects the rescue markers and worker models to the sandworm threat. The large mouth view should reveal a real recessed cavity, not a flat dark circle. Separate recognizable objects from the effects that communicate activity and danger around them.</a:t>
            </a:r>
          </a:p>
          <a:p>
            <a:endParaRPr/>
          </a:p>
          <a:p>
            <a:r>
              <a:t>Point out: Identify the worm's ridged deformable body, thick irregular lip, inward-facing funnel, deeply recessed throat, and six concentric rows of curved pointed teeth. The row counts are 192, 184, 176, 168, 152, and 128, totaling 1,000 teeth. The mouth narrows toward its recessed closure, leaving the visible opening unobstructed. Four sand-colored mound shapes form a wake behind the approaching worm.</a:t>
            </a:r>
          </a:p>
          <a:p>
            <a:endParaRPr/>
          </a:p>
          <a:p>
            <a:r>
              <a:t>Demonstrate: Identify the cyan base's circular pad, luminous ring, cross markings, and four beacon poles. Contrast these safe-base cues with an amber evacuation ring and its pole-top beacon. A worker uses ellipsoidal torso, head and visor, cylindrical arms and legs, and a small cyan overhead marker. During active pickup, the targeted worker rises and a thin cyan winch cylinder joins the aircraft to the worker. Amber group markers disappear when no running or waiting crew remain in that group.</a:t>
            </a:r>
          </a:p>
          <a:p>
            <a:endParaRPr/>
          </a:p>
          <a:p>
            <a:r>
              <a:t>Implementation: src/arrakis_worm.h creates five indexed meshes: body, lip, funnel, throat, and teeth. The body uses 192 longitudinal rows and 96 angular slices; revolved mouth profiles use 160 slices. Only the flexible body is streamed when the pose changes, and both shadow and scene passes share the pose. drawRescueWorld in src/arrakis.cpp constructs the base, markers, workers, and winch; marker rings align to the local terrain normal.</a:t>
            </a:r>
          </a:p>
          <a:p>
            <a:endParaRPr/>
          </a:p>
          <a:p>
            <a:r>
              <a:t>Accuracy: These are generated project objects shown through the shared draw routines. Worker close-ups can be staged for inspection. Dust is transparent billboard geometry, whereas the wake mounds are solid sphere-based objects. Workers aboard or already safe are state records, not separately rendered seated passengers or a populated interior cockpit.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Relate each equation to its visible object. With angles in radians, the raw dune height is h0=28*sin(.009*x+.004*z)+19*cos(.004*x-.012*z)+5*(1-abs(sin(.028*x+.016*z)))^2+1.8*sin(.065*x+.038*z)-4. The first terms create broad dunes, the squared term creates ridges, and the last adds small undulations.</a:t>
            </a:r>
          </a:p>
          <a:p>
            <a:endParaRPr/>
          </a:p>
          <a:p>
            <a:r>
              <a:t>Point out: The actual terrain adds base leveling: b=1-smoothstep(15,25,distance((x,z),(55,55))); h=(1-b)*h0+b*h0(55,55). An ellipsoid is (a*sin(theta)*cos(phi),b*cos(theta),c*sin(theta)*sin(phi)); the source sphere has radius .5 before scaling. Cylinder sides are (.5*cos(phi),y,.5*sin(phi)), y in [-.5,.5], with separate cap fans. The torus is ((1+.025*cos(beta))*cos(alpha),.025*sin(beta),(1+.025*cos(beta))*sin(alpha)), matching the base and evacuation rings.</a:t>
            </a:r>
          </a:p>
          <a:p>
            <a:endParaRPr/>
          </a:p>
          <a:p>
            <a:r>
              <a:t>Demonstrate: Follow the worm surface P(t,a)=C(t)+(R(t)+grain)*(cos(a),-Tz*sin(a),Ty*sin(a)), where T is the unit centerline tangent. Below t=.4, C is the cubic Bezier sum (1-s)^3*P0+3*(1-s)^2*s*P1+3*(1-s)*s^2*P2+s^3*P3. Above the join, C=end-(0,span*cos(mid),span*sin(mid)), span=64*(1-s)*sinc(tilt*(1-s)/2), mid=tilt*(1+s)/2. The radius blends 13.9 plus a .70-amplitude, 32-cycle cubed-cosine ridge toward 15*aperture at the mouth.</a:t>
            </a:r>
          </a:p>
          <a:p>
            <a:endParaRPr/>
          </a:p>
          <a:p>
            <a:r>
              <a:t>Implementation: Each tooth centerline is radial*(r-reach*u)+sideways*curl*u^2+(0,depth+.65*sin(pi*u)-drop*u^2,0). Sweep five-sided cross sections in its tangent frame with radius width*(1-u)^.85, then add a true apex. Source references are rawDuneHeight/createSphere/createCylinder/createRing in arrakis.cpp and deformBody/makeTeeth in arrakis_worm.h.</a:t>
            </a:r>
          </a:p>
          <a:p>
            <a:endParaRPr/>
          </a:p>
          <a:p>
            <a:r>
              <a:t>Accuracy: sinc(q)=sin(q)/q with its limiting value at zero. Curves are sampled triangle meshes, not exact analytic raster surfaces. Terrain normals use finite differences with epsilon .4; worm normals include bend and ridge derivatives. Increasing sampling density improves the approximation but does not change its mathematical definition. Distinguish a curved centerline from a straight cylinder merely rotated into place. The crater is a separate GPU displacement described on Slide 8.</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Dynamic scenes combine continuous mathematical motion with discrete mission events. For flight, v'=v+(vDesired-v)*(1-exp(-k*dt)), then p'=p+v'*dt; k is 5.5 normally or 12 while winching. Normal and boost targets are 28 and 48 units/second. Heading smoothing is analytically integrated; bank, pitch, altitude, and camera elevation use exponential damping rather than abrupt changes.</a:t>
            </a:r>
          </a:p>
          <a:p>
            <a:endParaRPr/>
          </a:p>
          <a:p>
            <a:r>
              <a:t>Point out: Wing angles are 34*sin(phase) and 34*sin(phase+.75*pi) degrees, with mirrored signs, fixed sweep/dihedral, and 8*cos(phase)*side pitch twist. phase advances at 23 radians/second normally and 36 while boosting. The harvester follows x=-40+.62*t+15*sin(.045*t), z=-55+22*sin(.032*t)+9*sin(.071*t); yaw=degrees(atan2(-dx/dt,-dz/dt)). Accumulated horizontal travel drives tread pads, wheel details, and the cutter. Its body follows dune height and local slope.</a:t>
            </a:r>
          </a:p>
          <a:p>
            <a:endParaRPr/>
          </a:p>
          <a:p>
            <a:r>
              <a:t>Demonstrate: Read the four-stage worm filmstrip as approach, rise, lunge/swallow, and retreat. Approach gap interpolates 220 to 18 units. Relative to breach, rise uses smoothstep(0,6), lunge smoothstep(6,12), and retreat smoothstep(13.5,18); the harvester sinks 20 units during seconds 6-12 and then disappears. Crew batches contain 1-4 workers, released at 6+7*j seconds at the route's scheduled position. Workers run at 3.8 units/second; limb angles use 24*sin(11*time+i) while running or 4*sin(2*time+i) while waiting.</a:t>
            </a:r>
          </a:p>
          <a:p>
            <a:endParaRPr/>
          </a:p>
          <a:p>
            <a:r>
              <a:t>Implementation: arrakis_game.h handles release, pursuit, proximity losses, and rescue states. arrakis_worm.h uses the smoothed stages to drive height, reach, tilt, and aperture. Normal missions currently have a 150-second pursuit followed by at most 60 seconds of extraction, with earlier closure possible. Nearby low aircraft and exposed crew can be lost; remaining inside crew are lost at attack second 12.</a:t>
            </a:r>
          </a:p>
          <a:p>
            <a:endParaRPr/>
          </a:p>
          <a:p>
            <a:r>
              <a:t>Accuracy: resetMission currently uses max(150,10-(wave-1)*10), so ordinary waves do not progressively shorten. The report's older 210-to-150 progression is stale. This is authored kinematics and timed hazard logic, not a general physics or navigation engine.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player can control translation, heading, height, boost, winching, mission state, and view selection. W/S provide forward/backward thrust; A/D strafe; Q/E raise/lower requested terrain-relative altitude. Mouse horizontal displacement and Left/Right arrows steer. Mouse vertical displacement and Up/Down arrows change chase-camera elevation, not aircraft pitch directly.</a:t>
            </a:r>
          </a:p>
          <a:p>
            <a:endParaRPr/>
          </a:p>
          <a:p>
            <a:r>
              <a:t>Point out: Space brakes to ten percent of the movement target, lowers requested hover altitude toward six units, disables boost, and enables pickup or unloading. Left Shift boosts while moving; the reserve drains at .22/second and refills at .14/second, with a low-reserve lock requiring Shift release. C cycles wide chase, close chase, and tactical overhead. Enter starts or advances after debrief; R retries; P pauses; M mutes; F toggles wireframe; F11 toggles fullscreen; Escape exits.</a:t>
            </a:r>
          </a:p>
          <a:p>
            <a:endParaRPr/>
          </a:p>
          <a:p>
            <a:r>
              <a:t>Demonstrate: Compare all three camera images. Wide chase uses distance 40, close chase distance 20 with an additional 2.2 vertical offset, and overhead uses 26 behind plus 100 above. For a rescue, approach within 12 horizontal units of a running or waiting worker, stay at or below 11 units of ground clearance and below speed 6, and hold Space for .42 seconds per person. Capacity is eight. Return within 14 horizontal units of base and meet the same low/slow conditions for a 1.2-second unload of the entire cabin. Only unloading increases the secured score.</a:t>
            </a:r>
          </a:p>
          <a:p>
            <a:endParaRPr/>
          </a:p>
          <a:p>
            <a:r>
              <a:t>Implementation: arrakis_game.h implements setMouseHover, updateMission, flightCameraPitch, and flightCameraOffset; src/arrakis.cpp supplies callbacks and lookAt/perspective matrices. Mouse steering has a normalized .12 deadzone. The camera shares the aircraft's heading exactly while its target and elevation are damped, and it stays above terrain. Aircraft altitude requests are clamped to 4-55 with extra obstacle clearance.</a:t>
            </a:r>
          </a:p>
          <a:p>
            <a:endParaRPr/>
          </a:p>
          <a:p>
            <a:r>
              <a:t>Accuracy: The close preset is external third-person, not a modeled cockpit. The cursor is window-position steering, not a captured free-look mouse. Invalid pickup conditions or a changed target reset progress; boarding alone does not save a worker from a subsequent aircraft loss.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Rendering adds readable form, depth, atmosphere, and activity without imported image textures. The pipeline uses a shadow depth pass followed by procedural sky, lit opaque objects, transparent dust, and HUD. A 2048-by-2048 shadow map follows the player; the scene samples a 5-by-5 PCF kernel with receiver-slope correction and bias to soften edges and reduce acne.</a:t>
            </a:r>
          </a:p>
          <a:p>
            <a:endParaRPr/>
          </a:p>
          <a:p>
            <a:r>
              <a:t>Point out: Materials combine warm ambient light, directional sunlight, Blinn-Phong specular, and emission. Sand uses wrapped diffuse max((N dot L+.35)/1.35,0), plus distance-faded sine ripples, slope-based coloring, perturbed normals, and sparse quartz sparkle. Rocks use procedural grain and height-dependent strata. Emission brightens beacons, spice indicators, and exhaust without making them separate lights. The sky shader draws a gradient and sun disc/halo from a full-screen triangle.</a:t>
            </a:r>
          </a:p>
          <a:p>
            <a:endParaRPr/>
          </a:p>
          <a:p>
            <a:r>
              <a:t>Demonstrate: Compare shadowed and sunlit areas, close sand detail and distant fog, then identify the worm crater and several dust sources. Fog weight is 1-exp(-(distance*density)^2). Surface tone mapping is pow(lit/(lit+.8),1/1.8), followed by fog blending. Crater displacement is -13*collapse*(1-smoothstep(5,48,d)), with collapse=smoothstep(7,14,attackTime); both scene and shadow vertex shaders apply it.</a:t>
            </a:r>
          </a:p>
          <a:p>
            <a:endParaRPr/>
          </a:p>
          <a:p>
            <a:r>
              <a:t>Implementation: src/arrakis.cpp maintains 2,400 CPU-updated particles with lifetime, velocity, ground contact, respawn, and gust modulation. Four emission categories are ambient wind, crawler plume, worm wake/breach, and winch downwash. Sorted instance records provide position/size and color/alpha for camera-facing quads; one glDrawElementsInstanced call renders them with alpha blending and depth writes disabled. Fade-in/out and a procedural soft mask replace particle image textures. Four-sample MSAA is requested, VSync is enabled, and F exposes mesh wireframe.</a:t>
            </a:r>
          </a:p>
          <a:p>
            <a:endParaRPr/>
          </a:p>
          <a:p>
            <a:r>
              <a:t>Accuracy: The crater is GPU-only; CPU terrain queries and collision clearance do not acquire the depression, and precomputed terrain normals are not rebuilt for it. Fog is analytic, shadows cover a finite region, and dust is billboards rather than volumetric simulation. There is no bloom, cloud system, thumper, true spotlight, imported model, or bitmap material texture; the sampled shadow map stores generated depth.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Feedback makes rescue state observable. The HUD shows secured, aboard, inside, sand, lost, groups, wave, best, pursuit, worm range, altitude, speed, FPS, boost, mute status, action prompts, pickup/unload progress, and breach/extraction timers. Title, pause, and debrief overlays explain the mission and distinguish secured workers from those merely aboard.</a:t>
            </a:r>
          </a:p>
          <a:p>
            <a:endParaRPr/>
          </a:p>
          <a:p>
            <a:r>
              <a:t>Point out: The north-up radar marks the aircraft with an oriented cyan triangle, base with a cyan outline, every running/waiting worker in amber, harvester in white, and worm in red. Text uses an in-code 5-by-7 glyph pattern emitted as colored rectangles, not a font image. Responsive layouts wrap controls and prompts, move or hide secondary panels, and preserve readable text sizes. The HUD streams a dynamic vertex buffer and saves/restores relevant OpenGL state.</a:t>
            </a:r>
          </a:p>
          <a:p>
            <a:endParaRPr/>
          </a:p>
          <a:p>
            <a:r>
              <a:t>Demonstrate: Follow a pickup and delivery counter change, then compare the HUD in different window sizes. Audio has eight spatial sound roles: ornithopter_flight, ornithopter_boost, worm_rumble, worm_breach, harvester_engine, rescue_winch, rescue_safe, and crew_help. The camera is the listener; inverse-distance attenuation, speed-dependent flight pitch, smoothed boost volume, worm proximity volume, and event-triggered cues reinforce the visuals. Missing files are skipped; engine failure permits silent operation. M or pause reduces master volume to zero, not playback suspension.</a:t>
            </a:r>
          </a:p>
          <a:p>
            <a:endParaRPr/>
          </a:p>
          <a:p>
            <a:r>
              <a:t>Implementation: arrakis_hud.h and arrakis_audio.h implement these systems. Focus loss clears held inputs and pauses flying; resize recenters steering; fullscreen is switchable; minimized windows wait for events. Frame dt is capped at .1 seconds and mission updates subdivide to at most 1/120 second. CMake builds C++17 with OpenGL, GLFW, GLAD, GLM, and miniaudio, copies assets/audio beside the executable, and registers RescueMissionLogic in CTest. The debugger uses the executable directory. The LaTeX report and source references document the pipeline.</a:t>
            </a:r>
          </a:p>
          <a:p>
            <a:endParaRPr/>
          </a:p>
          <a:p>
            <a:r>
              <a:t>Accuracy: Fresh verification of the current build passed 23 of 27 logic cases across 1,057 checks, with five failed assertions in four cases. All four smoke modes passed 120 frames each. Do not claim all tests pass: the changed timer violates older expectations. Render smokes establish limited execution coverage, not complete gameplay, subjective graphics quality, or audible output on every machine.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Explain: Close with Thank You and the three demonstrated requirements: recognizable procedural objects and curved geometry, coordinated mathematical motion and changing scenes, and controllable interaction supported by rendering, feedback, and audio.</a:t>
            </a:r>
          </a:p>
          <a:p>
            <a:endParaRPr dirty="0"/>
          </a:p>
          <a:p>
            <a:r>
              <a:rPr dirty="0"/>
              <a:t>Point out: Slides 3-5 provide object and equation evidence; Slides 6-7 provide motion and control evidence; Slides 8-9 provide additional features and honest evaluation. The project report is available alongside the presentation. The already available external demonstration video can be played after this closing slide; no video is embedded in the deck.</a:t>
            </a:r>
          </a:p>
          <a:p>
            <a:endParaRPr dirty="0"/>
          </a:p>
          <a:p>
            <a:r>
              <a:rPr dirty="0"/>
              <a:t>Demonstrate: Summarize the complete rescue loop once: find amber crew, board within eight-seat capacity, deliver to the cyan base, and avoid the worm. Use the external recording for sustained motion rather than claiming that a static screenshot proves player input.</a:t>
            </a:r>
          </a:p>
          <a:p>
            <a:endParaRPr dirty="0"/>
          </a:p>
          <a:p>
            <a:r>
              <a:rPr dirty="0"/>
              <a:t>Implementation: The outcome combines original generated models, shader-generated surface detail, authored animation, mission state, and an OpenGL frame pipeline. Technical references are in the existing LaTeX report and project source.</a:t>
            </a:r>
          </a:p>
          <a:p>
            <a:endParaRPr dirty="0"/>
          </a:p>
          <a:p>
            <a:r>
              <a:rPr dirty="0"/>
              <a:t>Accuracy: Acknowledge opaque glass, constant decorative tanks, GPU-only crater displacement without CPU terrain changes, and the current constant 150-second timer with failing legacy logic assertions. There is no interior cockpit, general physics/navigation engine, bloom, clouds, thumper, or spotlight. The assignment's undefined Karpov objects term is unsupported and is not claimed as an implemented feature.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81E"/>
        </a:solidFill>
        <a:effectLst/>
      </p:bgPr>
    </p:bg>
    <p:spTree>
      <p:nvGrpSpPr>
        <p:cNvPr id="1" name=""/>
        <p:cNvGrpSpPr/>
        <p:nvPr/>
      </p:nvGrpSpPr>
      <p:grpSpPr>
        <a:xfrm>
          <a:off x="0" y="0"/>
          <a:ext cx="0" cy="0"/>
          <a:chOff x="0" y="0"/>
          <a:chExt cx="0" cy="0"/>
        </a:xfrm>
      </p:grpSpPr>
      <p:pic>
        <p:nvPicPr>
          <p:cNvPr id="2" name="Picture 1" descr="breach.png"/>
          <p:cNvPicPr>
            <a:picLocks noChangeAspect="1"/>
          </p:cNvPicPr>
          <p:nvPr/>
        </p:nvPicPr>
        <p:blipFill>
          <a:blip r:embed="rId3"/>
          <a:srcRect l="23750" r="23750"/>
          <a:stretch>
            <a:fillRect/>
          </a:stretch>
        </p:blipFill>
        <p:spPr>
          <a:xfrm>
            <a:off x="6949440" y="0"/>
            <a:ext cx="7680960" cy="8229600"/>
          </a:xfrm>
          <a:prstGeom prst="rect">
            <a:avLst/>
          </a:prstGeom>
        </p:spPr>
      </p:pic>
      <p:sp>
        <p:nvSpPr>
          <p:cNvPr id="3" name="Rectangle 2"/>
          <p:cNvSpPr/>
          <p:nvPr/>
        </p:nvSpPr>
        <p:spPr>
          <a:xfrm>
            <a:off x="0" y="0"/>
            <a:ext cx="7360920" cy="8229600"/>
          </a:xfrm>
          <a:prstGeom prst="rect">
            <a:avLst/>
          </a:prstGeom>
          <a:solidFill>
            <a:srgbClr val="10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33488" y="0"/>
            <a:ext cx="45720" cy="8229600"/>
          </a:xfrm>
          <a:prstGeom prst="rect">
            <a:avLst/>
          </a:prstGeom>
          <a:solidFill>
            <a:srgbClr val="D5A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411480"/>
            <a:ext cx="6217920" cy="320040"/>
          </a:xfrm>
          <a:prstGeom prst="rect">
            <a:avLst/>
          </a:prstGeom>
          <a:noFill/>
        </p:spPr>
        <p:txBody>
          <a:bodyPr wrap="square" lIns="0" tIns="0" rIns="0" bIns="0" anchor="t">
            <a:noAutofit/>
          </a:bodyPr>
          <a:lstStyle/>
          <a:p>
            <a:pPr algn="l">
              <a:lnSpc>
                <a:spcPct val="100000"/>
              </a:lnSpc>
              <a:spcBef>
                <a:spcPts val="0"/>
              </a:spcBef>
              <a:spcAft>
                <a:spcPts val="0"/>
              </a:spcAft>
            </a:pPr>
            <a:r>
              <a:rPr sz="1300" b="1">
                <a:solidFill>
                  <a:srgbClr val="D5A45E"/>
                </a:solidFill>
                <a:latin typeface="Arial"/>
              </a:rPr>
              <a:t>01 / INTRODUCTION</a:t>
            </a:r>
          </a:p>
        </p:txBody>
      </p:sp>
      <p:sp>
        <p:nvSpPr>
          <p:cNvPr id="6" name="TextBox 5"/>
          <p:cNvSpPr txBox="1"/>
          <p:nvPr/>
        </p:nvSpPr>
        <p:spPr>
          <a:xfrm>
            <a:off x="548640" y="941832"/>
            <a:ext cx="6492240" cy="1280160"/>
          </a:xfrm>
          <a:prstGeom prst="rect">
            <a:avLst/>
          </a:prstGeom>
          <a:noFill/>
        </p:spPr>
        <p:txBody>
          <a:bodyPr wrap="square" lIns="0" tIns="0" rIns="0" bIns="0" anchor="t">
            <a:noAutofit/>
          </a:bodyPr>
          <a:lstStyle/>
          <a:p>
            <a:pPr algn="l">
              <a:lnSpc>
                <a:spcPct val="100000"/>
              </a:lnSpc>
              <a:spcBef>
                <a:spcPts val="0"/>
              </a:spcBef>
              <a:spcAft>
                <a:spcPts val="0"/>
              </a:spcAft>
            </a:pPr>
            <a:r>
              <a:rPr sz="7800" b="1">
                <a:solidFill>
                  <a:srgbClr val="F0E9DA"/>
                </a:solidFill>
                <a:latin typeface="Bahnschrift"/>
              </a:rPr>
              <a:t>ARRAKIS</a:t>
            </a:r>
          </a:p>
        </p:txBody>
      </p:sp>
      <p:sp>
        <p:nvSpPr>
          <p:cNvPr id="7" name="TextBox 6"/>
          <p:cNvSpPr txBox="1"/>
          <p:nvPr/>
        </p:nvSpPr>
        <p:spPr>
          <a:xfrm>
            <a:off x="594360" y="2103120"/>
            <a:ext cx="6492240" cy="548640"/>
          </a:xfrm>
          <a:prstGeom prst="rect">
            <a:avLst/>
          </a:prstGeom>
          <a:noFill/>
        </p:spPr>
        <p:txBody>
          <a:bodyPr wrap="square" lIns="0" tIns="0" rIns="0" bIns="0" anchor="t">
            <a:noAutofit/>
          </a:bodyPr>
          <a:lstStyle/>
          <a:p>
            <a:pPr algn="l">
              <a:lnSpc>
                <a:spcPct val="100000"/>
              </a:lnSpc>
              <a:spcBef>
                <a:spcPts val="0"/>
              </a:spcBef>
              <a:spcAft>
                <a:spcPts val="0"/>
              </a:spcAft>
            </a:pPr>
            <a:r>
              <a:rPr sz="3300" b="1">
                <a:solidFill>
                  <a:srgbClr val="D5A45E"/>
                </a:solidFill>
                <a:latin typeface="Bahnschrift"/>
              </a:rPr>
              <a:t>HARVESTER DOWN</a:t>
            </a:r>
          </a:p>
        </p:txBody>
      </p:sp>
      <p:sp>
        <p:nvSpPr>
          <p:cNvPr id="8" name="TextBox 7"/>
          <p:cNvSpPr txBox="1"/>
          <p:nvPr/>
        </p:nvSpPr>
        <p:spPr>
          <a:xfrm>
            <a:off x="594360" y="2880360"/>
            <a:ext cx="6217920" cy="813816"/>
          </a:xfrm>
          <a:prstGeom prst="rect">
            <a:avLst/>
          </a:prstGeom>
          <a:noFill/>
        </p:spPr>
        <p:txBody>
          <a:bodyPr wrap="square" lIns="0" tIns="0" rIns="0" bIns="0" anchor="t">
            <a:noAutofit/>
          </a:bodyPr>
          <a:lstStyle/>
          <a:p>
            <a:pPr algn="l">
              <a:lnSpc>
                <a:spcPct val="100000"/>
              </a:lnSpc>
              <a:spcBef>
                <a:spcPts val="0"/>
              </a:spcBef>
              <a:spcAft>
                <a:spcPts val="0"/>
              </a:spcAft>
            </a:pPr>
            <a:r>
              <a:rPr sz="2300" b="0">
                <a:solidFill>
                  <a:srgbClr val="F0E9DA"/>
                </a:solidFill>
                <a:latin typeface="Arial"/>
              </a:rPr>
              <a:t>Fly an ornithopter. Rescue the crew.</a:t>
            </a:r>
          </a:p>
          <a:p>
            <a:pPr algn="l">
              <a:lnSpc>
                <a:spcPct val="100000"/>
              </a:lnSpc>
              <a:spcBef>
                <a:spcPts val="0"/>
              </a:spcBef>
              <a:spcAft>
                <a:spcPts val="0"/>
              </a:spcAft>
            </a:pPr>
            <a:r>
              <a:rPr sz="2300" b="0">
                <a:solidFill>
                  <a:srgbClr val="F0E9DA"/>
                </a:solidFill>
                <a:latin typeface="Arial"/>
              </a:rPr>
              <a:t>Escape a pursuing sandworm.</a:t>
            </a:r>
          </a:p>
        </p:txBody>
      </p:sp>
      <p:cxnSp>
        <p:nvCxnSpPr>
          <p:cNvPr id="9" name="Connector 8"/>
          <p:cNvCxnSpPr/>
          <p:nvPr/>
        </p:nvCxnSpPr>
        <p:spPr>
          <a:xfrm>
            <a:off x="594360" y="3867912"/>
            <a:ext cx="6172200" cy="0"/>
          </a:xfrm>
          <a:prstGeom prst="line">
            <a:avLst/>
          </a:prstGeom>
          <a:ln w="19050">
            <a:solidFill>
              <a:srgbClr val="42545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4105656"/>
            <a:ext cx="6355080" cy="457200"/>
          </a:xfrm>
          <a:prstGeom prst="rect">
            <a:avLst/>
          </a:prstGeom>
          <a:noFill/>
        </p:spPr>
        <p:txBody>
          <a:bodyPr wrap="square" lIns="0" tIns="0" rIns="0" bIns="0" anchor="t">
            <a:noAutofit/>
          </a:bodyPr>
          <a:lstStyle/>
          <a:p>
            <a:pPr algn="l">
              <a:lnSpc>
                <a:spcPct val="100000"/>
              </a:lnSpc>
              <a:spcBef>
                <a:spcPts val="0"/>
              </a:spcBef>
              <a:spcAft>
                <a:spcPts val="0"/>
              </a:spcAft>
            </a:pPr>
            <a:r>
              <a:rPr sz="2500" b="1">
                <a:solidFill>
                  <a:srgbClr val="F0E9DA"/>
                </a:solidFill>
                <a:latin typeface="Arial"/>
              </a:rPr>
              <a:t>Asique Ehetasamul Haque</a:t>
            </a:r>
          </a:p>
        </p:txBody>
      </p:sp>
      <p:sp>
        <p:nvSpPr>
          <p:cNvPr id="11" name="TextBox 10"/>
          <p:cNvSpPr txBox="1"/>
          <p:nvPr/>
        </p:nvSpPr>
        <p:spPr>
          <a:xfrm>
            <a:off x="594360" y="4617720"/>
            <a:ext cx="6400800" cy="365760"/>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ACB9BA"/>
                </a:solidFill>
                <a:latin typeface="Arial"/>
              </a:rPr>
              <a:t>Roll: 2107096  |  Year: 4th  |  Semester: 1st  |  Group: B2</a:t>
            </a:r>
          </a:p>
        </p:txBody>
      </p:sp>
      <p:sp>
        <p:nvSpPr>
          <p:cNvPr id="12" name="TextBox 11"/>
          <p:cNvSpPr txBox="1"/>
          <p:nvPr/>
        </p:nvSpPr>
        <p:spPr>
          <a:xfrm>
            <a:off x="594360" y="5148072"/>
            <a:ext cx="6492240" cy="713232"/>
          </a:xfrm>
          <a:prstGeom prst="rect">
            <a:avLst/>
          </a:prstGeom>
          <a:noFill/>
        </p:spPr>
        <p:txBody>
          <a:bodyPr wrap="square" lIns="0" tIns="0" rIns="0" bIns="0" anchor="t">
            <a:noAutofit/>
          </a:bodyPr>
          <a:lstStyle/>
          <a:p>
            <a:pPr algn="l">
              <a:lnSpc>
                <a:spcPct val="100000"/>
              </a:lnSpc>
              <a:spcBef>
                <a:spcPts val="0"/>
              </a:spcBef>
              <a:spcAft>
                <a:spcPts val="0"/>
              </a:spcAft>
            </a:pPr>
            <a:r>
              <a:rPr sz="1800" b="0">
                <a:solidFill>
                  <a:srgbClr val="D5A45E"/>
                </a:solidFill>
                <a:latin typeface="Arial"/>
              </a:rPr>
              <a:t>CSE - 4102</a:t>
            </a:r>
          </a:p>
          <a:p>
            <a:pPr algn="l">
              <a:lnSpc>
                <a:spcPct val="100000"/>
              </a:lnSpc>
              <a:spcBef>
                <a:spcPts val="0"/>
              </a:spcBef>
              <a:spcAft>
                <a:spcPts val="0"/>
              </a:spcAft>
            </a:pPr>
            <a:r>
              <a:rPr sz="1800" b="0">
                <a:solidFill>
                  <a:srgbClr val="D5A45E"/>
                </a:solidFill>
                <a:latin typeface="Arial"/>
              </a:rPr>
              <a:t>Computer Graphics and Image Processing Laboratory</a:t>
            </a:r>
          </a:p>
        </p:txBody>
      </p:sp>
      <p:sp>
        <p:nvSpPr>
          <p:cNvPr id="13" name="TextBox 12"/>
          <p:cNvSpPr txBox="1"/>
          <p:nvPr/>
        </p:nvSpPr>
        <p:spPr>
          <a:xfrm>
            <a:off x="594360" y="6080760"/>
            <a:ext cx="6400800" cy="731520"/>
          </a:xfrm>
          <a:prstGeom prst="rect">
            <a:avLst/>
          </a:prstGeom>
          <a:noFill/>
        </p:spPr>
        <p:txBody>
          <a:bodyPr wrap="square" lIns="0" tIns="0" rIns="0" bIns="0" anchor="t">
            <a:noAutofit/>
          </a:bodyPr>
          <a:lstStyle/>
          <a:p>
            <a:pPr algn="l">
              <a:lnSpc>
                <a:spcPct val="100000"/>
              </a:lnSpc>
              <a:spcBef>
                <a:spcPts val="0"/>
              </a:spcBef>
              <a:spcAft>
                <a:spcPts val="0"/>
              </a:spcAft>
            </a:pPr>
            <a:r>
              <a:rPr sz="1700" b="0">
                <a:solidFill>
                  <a:srgbClr val="F0E9DA"/>
                </a:solidFill>
                <a:latin typeface="Arial"/>
              </a:rPr>
              <a:t>Department of Computer Science and Engineering</a:t>
            </a:r>
          </a:p>
          <a:p>
            <a:pPr algn="l">
              <a:lnSpc>
                <a:spcPct val="100000"/>
              </a:lnSpc>
              <a:spcBef>
                <a:spcPts val="0"/>
              </a:spcBef>
              <a:spcAft>
                <a:spcPts val="0"/>
              </a:spcAft>
            </a:pPr>
            <a:r>
              <a:rPr sz="1700" b="0">
                <a:solidFill>
                  <a:srgbClr val="F0E9DA"/>
                </a:solidFill>
                <a:latin typeface="Arial"/>
              </a:rPr>
              <a:t>Khulna University of Engineering and Technology</a:t>
            </a:r>
          </a:p>
        </p:txBody>
      </p:sp>
      <p:sp>
        <p:nvSpPr>
          <p:cNvPr id="14" name="TextBox 13"/>
          <p:cNvSpPr txBox="1"/>
          <p:nvPr/>
        </p:nvSpPr>
        <p:spPr>
          <a:xfrm>
            <a:off x="594360" y="7424927"/>
            <a:ext cx="6537960" cy="539496"/>
          </a:xfrm>
          <a:prstGeom prst="rect">
            <a:avLst/>
          </a:prstGeom>
          <a:noFill/>
        </p:spPr>
        <p:txBody>
          <a:bodyPr wrap="square" lIns="0" tIns="0" rIns="0" bIns="0" anchor="t">
            <a:noAutofit/>
          </a:bodyPr>
          <a:lstStyle/>
          <a:p>
            <a:pPr algn="l">
              <a:lnSpc>
                <a:spcPct val="100000"/>
              </a:lnSpc>
              <a:spcBef>
                <a:spcPts val="0"/>
              </a:spcBef>
              <a:spcAft>
                <a:spcPts val="0"/>
              </a:spcAft>
            </a:pPr>
            <a:r>
              <a:rPr sz="1500" b="0">
                <a:solidFill>
                  <a:srgbClr val="58CFD1"/>
                </a:solidFill>
                <a:latin typeface="Arial"/>
              </a:rPr>
              <a:t>C++17 + OpenGL 3.3</a:t>
            </a:r>
          </a:p>
          <a:p>
            <a:pPr algn="l">
              <a:lnSpc>
                <a:spcPct val="100000"/>
              </a:lnSpc>
              <a:spcBef>
                <a:spcPts val="0"/>
              </a:spcBef>
              <a:spcAft>
                <a:spcPts val="0"/>
              </a:spcAft>
            </a:pPr>
            <a:r>
              <a:rPr sz="1500" b="0">
                <a:solidFill>
                  <a:srgbClr val="58CFD1"/>
                </a:solidFill>
                <a:latin typeface="Arial"/>
              </a:rPr>
              <a:t>Procedural models, mathematical motion, game-like controls</a:t>
            </a:r>
          </a:p>
        </p:txBody>
      </p:sp>
      <p:sp>
        <p:nvSpPr>
          <p:cNvPr id="15" name="Rectangle 14"/>
          <p:cNvSpPr/>
          <p:nvPr/>
        </p:nvSpPr>
        <p:spPr>
          <a:xfrm>
            <a:off x="8823960" y="6071952"/>
            <a:ext cx="4709160" cy="822960"/>
          </a:xfrm>
          <a:prstGeom prst="rect">
            <a:avLst/>
          </a:prstGeom>
          <a:solidFill>
            <a:srgbClr val="10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52560" y="6209112"/>
            <a:ext cx="4343400" cy="457200"/>
          </a:xfrm>
          <a:prstGeom prst="rect">
            <a:avLst/>
          </a:prstGeom>
          <a:noFill/>
        </p:spPr>
        <p:txBody>
          <a:bodyPr wrap="square" lIns="0" tIns="0" rIns="0" bIns="0" anchor="t">
            <a:noAutofit/>
          </a:bodyPr>
          <a:lstStyle/>
          <a:p>
            <a:pPr algn="l">
              <a:lnSpc>
                <a:spcPct val="100000"/>
              </a:lnSpc>
              <a:spcBef>
                <a:spcPts val="0"/>
              </a:spcBef>
              <a:spcAft>
                <a:spcPts val="0"/>
              </a:spcAft>
            </a:pPr>
            <a:r>
              <a:rPr sz="3000" b="1" dirty="0">
                <a:solidFill>
                  <a:srgbClr val="F0E9DA"/>
                </a:solidFill>
                <a:latin typeface="Bahnschrift"/>
              </a:rPr>
              <a:t>36 crew   /   8 seats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181E"/>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252728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1">
                <a:solidFill>
                  <a:srgbClr val="D5A45E"/>
                </a:solidFill>
                <a:latin typeface="Arial"/>
              </a:rPr>
              <a:t>PRESENTATION ROADMAP</a:t>
            </a:r>
          </a:p>
        </p:txBody>
      </p:sp>
      <p:sp>
        <p:nvSpPr>
          <p:cNvPr id="3" name="TextBox 2"/>
          <p:cNvSpPr txBox="1"/>
          <p:nvPr/>
        </p:nvSpPr>
        <p:spPr>
          <a:xfrm>
            <a:off x="548640" y="694944"/>
            <a:ext cx="13350240" cy="594360"/>
          </a:xfrm>
          <a:prstGeom prst="rect">
            <a:avLst/>
          </a:prstGeom>
          <a:noFill/>
        </p:spPr>
        <p:txBody>
          <a:bodyPr wrap="square" lIns="0" tIns="0" rIns="0" bIns="0" anchor="t">
            <a:noAutofit/>
          </a:bodyPr>
          <a:lstStyle/>
          <a:p>
            <a:pPr algn="l">
              <a:lnSpc>
                <a:spcPct val="100000"/>
              </a:lnSpc>
              <a:spcBef>
                <a:spcPts val="0"/>
              </a:spcBef>
              <a:spcAft>
                <a:spcPts val="0"/>
              </a:spcAft>
            </a:pPr>
            <a:r>
              <a:rPr sz="3600" b="1">
                <a:solidFill>
                  <a:srgbClr val="F0E9DA"/>
                </a:solidFill>
                <a:latin typeface="Bahnschrift"/>
              </a:rPr>
              <a:t>Outline</a:t>
            </a:r>
          </a:p>
        </p:txBody>
      </p:sp>
      <p:sp>
        <p:nvSpPr>
          <p:cNvPr id="4" name="TextBox 3"/>
          <p:cNvSpPr txBox="1"/>
          <p:nvPr/>
        </p:nvSpPr>
        <p:spPr>
          <a:xfrm>
            <a:off x="566928" y="1316736"/>
            <a:ext cx="13441680" cy="329184"/>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ACB9BA"/>
                </a:solidFill>
                <a:latin typeface="Arial"/>
              </a:rPr>
              <a:t>A world, its equations, the player's actions, and the frame that explains them.</a:t>
            </a:r>
          </a:p>
        </p:txBody>
      </p:sp>
      <p:cxnSp>
        <p:nvCxnSpPr>
          <p:cNvPr id="5" name="Connector 4"/>
          <p:cNvCxnSpPr/>
          <p:nvPr/>
        </p:nvCxnSpPr>
        <p:spPr>
          <a:xfrm>
            <a:off x="548640" y="7772400"/>
            <a:ext cx="13533120" cy="0"/>
          </a:xfrm>
          <a:prstGeom prst="line">
            <a:avLst/>
          </a:prstGeom>
          <a:ln w="12700">
            <a:solidFill>
              <a:srgbClr val="42545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7900416"/>
            <a:ext cx="11338560" cy="219456"/>
          </a:xfrm>
          <a:prstGeom prst="rect">
            <a:avLst/>
          </a:prstGeom>
          <a:noFill/>
        </p:spPr>
        <p:txBody>
          <a:bodyPr wrap="square" lIns="0" tIns="0" rIns="0" bIns="0" anchor="t">
            <a:noAutofit/>
          </a:bodyPr>
          <a:lstStyle/>
          <a:p>
            <a:pPr algn="l">
              <a:lnSpc>
                <a:spcPct val="100000"/>
              </a:lnSpc>
              <a:spcBef>
                <a:spcPts val="0"/>
              </a:spcBef>
              <a:spcAft>
                <a:spcPts val="0"/>
              </a:spcAft>
            </a:pPr>
            <a:r>
              <a:rPr sz="1000" b="0">
                <a:solidFill>
                  <a:srgbClr val="ACB9BA"/>
                </a:solidFill>
                <a:latin typeface="Arial"/>
              </a:rPr>
              <a:t>ARRAKIS / HARVESTER DOWN     |     ASIQUE EHETASAMUL HAQUE     |     CSE 4102</a:t>
            </a:r>
          </a:p>
        </p:txBody>
      </p:sp>
      <p:sp>
        <p:nvSpPr>
          <p:cNvPr id="7" name="TextBox 6"/>
          <p:cNvSpPr txBox="1"/>
          <p:nvPr/>
        </p:nvSpPr>
        <p:spPr>
          <a:xfrm>
            <a:off x="13167360" y="7863840"/>
            <a:ext cx="914400" cy="274320"/>
          </a:xfrm>
          <a:prstGeom prst="rect">
            <a:avLst/>
          </a:prstGeom>
          <a:noFill/>
        </p:spPr>
        <p:txBody>
          <a:bodyPr wrap="square" lIns="0" tIns="0" rIns="0" bIns="0" anchor="t">
            <a:noAutofit/>
          </a:bodyPr>
          <a:lstStyle/>
          <a:p>
            <a:pPr algn="r">
              <a:lnSpc>
                <a:spcPct val="100000"/>
              </a:lnSpc>
              <a:spcBef>
                <a:spcPts val="0"/>
              </a:spcBef>
              <a:spcAft>
                <a:spcPts val="0"/>
              </a:spcAft>
            </a:pPr>
            <a:r>
              <a:rPr sz="1300" b="1">
                <a:solidFill>
                  <a:srgbClr val="D5A45E"/>
                </a:solidFill>
                <a:latin typeface="Arial"/>
              </a:rPr>
              <a:t>02 / 10</a:t>
            </a:r>
          </a:p>
        </p:txBody>
      </p:sp>
      <p:sp>
        <p:nvSpPr>
          <p:cNvPr id="8" name="TextBox 7"/>
          <p:cNvSpPr txBox="1"/>
          <p:nvPr/>
        </p:nvSpPr>
        <p:spPr>
          <a:xfrm>
            <a:off x="594360" y="1965960"/>
            <a:ext cx="658368" cy="502920"/>
          </a:xfrm>
          <a:prstGeom prst="rect">
            <a:avLst/>
          </a:prstGeom>
          <a:noFill/>
        </p:spPr>
        <p:txBody>
          <a:bodyPr wrap="square" lIns="0" tIns="0" rIns="0" bIns="0" anchor="t">
            <a:noAutofit/>
          </a:bodyPr>
          <a:lstStyle/>
          <a:p>
            <a:pPr algn="l">
              <a:lnSpc>
                <a:spcPct val="100000"/>
              </a:lnSpc>
              <a:spcBef>
                <a:spcPts val="0"/>
              </a:spcBef>
              <a:spcAft>
                <a:spcPts val="0"/>
              </a:spcAft>
            </a:pPr>
            <a:r>
              <a:rPr sz="3200" b="1">
                <a:solidFill>
                  <a:srgbClr val="D5A45E"/>
                </a:solidFill>
                <a:latin typeface="Bahnschrift"/>
              </a:rPr>
              <a:t>01</a:t>
            </a:r>
          </a:p>
        </p:txBody>
      </p:sp>
      <p:sp>
        <p:nvSpPr>
          <p:cNvPr id="9" name="TextBox 8"/>
          <p:cNvSpPr txBox="1"/>
          <p:nvPr/>
        </p:nvSpPr>
        <p:spPr>
          <a:xfrm>
            <a:off x="1463040" y="1984248"/>
            <a:ext cx="5486400" cy="384048"/>
          </a:xfrm>
          <a:prstGeom prst="rect">
            <a:avLst/>
          </a:prstGeom>
          <a:noFill/>
        </p:spPr>
        <p:txBody>
          <a:bodyPr wrap="square" lIns="0" tIns="0" rIns="0" bIns="0" anchor="t">
            <a:noAutofit/>
          </a:bodyPr>
          <a:lstStyle/>
          <a:p>
            <a:pPr algn="l">
              <a:lnSpc>
                <a:spcPct val="100000"/>
              </a:lnSpc>
              <a:spcBef>
                <a:spcPts val="0"/>
              </a:spcBef>
              <a:spcAft>
                <a:spcPts val="0"/>
              </a:spcAft>
            </a:pPr>
            <a:r>
              <a:rPr sz="2400" b="1">
                <a:solidFill>
                  <a:srgbClr val="F0E9DA"/>
                </a:solidFill>
                <a:latin typeface="Arial"/>
              </a:rPr>
              <a:t>Build the world</a:t>
            </a:r>
          </a:p>
        </p:txBody>
      </p:sp>
      <p:sp>
        <p:nvSpPr>
          <p:cNvPr id="10" name="TextBox 9"/>
          <p:cNvSpPr txBox="1"/>
          <p:nvPr/>
        </p:nvSpPr>
        <p:spPr>
          <a:xfrm>
            <a:off x="1463040" y="2395728"/>
            <a:ext cx="5623560" cy="402336"/>
          </a:xfrm>
          <a:prstGeom prst="rect">
            <a:avLst/>
          </a:prstGeom>
          <a:noFill/>
        </p:spPr>
        <p:txBody>
          <a:bodyPr wrap="square" lIns="0" tIns="0" rIns="0" bIns="0" anchor="t">
            <a:noAutofit/>
          </a:bodyPr>
          <a:lstStyle/>
          <a:p>
            <a:pPr algn="l">
              <a:lnSpc>
                <a:spcPct val="100000"/>
              </a:lnSpc>
              <a:spcBef>
                <a:spcPts val="0"/>
              </a:spcBef>
              <a:spcAft>
                <a:spcPts val="0"/>
              </a:spcAft>
            </a:pPr>
            <a:r>
              <a:rPr sz="1700" b="0">
                <a:solidFill>
                  <a:srgbClr val="ACB9BA"/>
                </a:solidFill>
                <a:latin typeface="Arial"/>
              </a:rPr>
              <a:t>Objects and screenshots; procedural curved surfaces</a:t>
            </a:r>
          </a:p>
        </p:txBody>
      </p:sp>
      <p:sp>
        <p:nvSpPr>
          <p:cNvPr id="11" name="TextBox 10"/>
          <p:cNvSpPr txBox="1"/>
          <p:nvPr/>
        </p:nvSpPr>
        <p:spPr>
          <a:xfrm>
            <a:off x="6217920" y="2011680"/>
            <a:ext cx="1280160" cy="274320"/>
          </a:xfrm>
          <a:prstGeom prst="rect">
            <a:avLst/>
          </a:prstGeom>
          <a:noFill/>
        </p:spPr>
        <p:txBody>
          <a:bodyPr wrap="square" lIns="0" tIns="0" rIns="0" bIns="0" anchor="t">
            <a:noAutofit/>
          </a:bodyPr>
          <a:lstStyle/>
          <a:p>
            <a:pPr algn="r">
              <a:lnSpc>
                <a:spcPct val="100000"/>
              </a:lnSpc>
              <a:spcBef>
                <a:spcPts val="0"/>
              </a:spcBef>
              <a:spcAft>
                <a:spcPts val="0"/>
              </a:spcAft>
            </a:pPr>
            <a:r>
              <a:rPr sz="1300" b="0">
                <a:solidFill>
                  <a:srgbClr val="58CFD1"/>
                </a:solidFill>
                <a:latin typeface="Arial"/>
              </a:rPr>
              <a:t>Slides 3-5</a:t>
            </a:r>
          </a:p>
        </p:txBody>
      </p:sp>
      <p:cxnSp>
        <p:nvCxnSpPr>
          <p:cNvPr id="12" name="Connector 11"/>
          <p:cNvCxnSpPr/>
          <p:nvPr/>
        </p:nvCxnSpPr>
        <p:spPr>
          <a:xfrm>
            <a:off x="1463040" y="2916936"/>
            <a:ext cx="5943600" cy="0"/>
          </a:xfrm>
          <a:prstGeom prst="line">
            <a:avLst/>
          </a:prstGeom>
          <a:ln w="10160">
            <a:solidFill>
              <a:srgbClr val="42545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108960"/>
            <a:ext cx="658368" cy="502920"/>
          </a:xfrm>
          <a:prstGeom prst="rect">
            <a:avLst/>
          </a:prstGeom>
          <a:noFill/>
        </p:spPr>
        <p:txBody>
          <a:bodyPr wrap="square" lIns="0" tIns="0" rIns="0" bIns="0" anchor="t">
            <a:noAutofit/>
          </a:bodyPr>
          <a:lstStyle/>
          <a:p>
            <a:pPr algn="l">
              <a:lnSpc>
                <a:spcPct val="100000"/>
              </a:lnSpc>
              <a:spcBef>
                <a:spcPts val="0"/>
              </a:spcBef>
              <a:spcAft>
                <a:spcPts val="0"/>
              </a:spcAft>
            </a:pPr>
            <a:r>
              <a:rPr sz="3200" b="1">
                <a:solidFill>
                  <a:srgbClr val="D5A45E"/>
                </a:solidFill>
                <a:latin typeface="Bahnschrift"/>
              </a:rPr>
              <a:t>02</a:t>
            </a:r>
          </a:p>
        </p:txBody>
      </p:sp>
      <p:sp>
        <p:nvSpPr>
          <p:cNvPr id="14" name="TextBox 13"/>
          <p:cNvSpPr txBox="1"/>
          <p:nvPr/>
        </p:nvSpPr>
        <p:spPr>
          <a:xfrm>
            <a:off x="1463040" y="3127248"/>
            <a:ext cx="5486400" cy="384048"/>
          </a:xfrm>
          <a:prstGeom prst="rect">
            <a:avLst/>
          </a:prstGeom>
          <a:noFill/>
        </p:spPr>
        <p:txBody>
          <a:bodyPr wrap="square" lIns="0" tIns="0" rIns="0" bIns="0" anchor="t">
            <a:noAutofit/>
          </a:bodyPr>
          <a:lstStyle/>
          <a:p>
            <a:pPr algn="l">
              <a:lnSpc>
                <a:spcPct val="100000"/>
              </a:lnSpc>
              <a:spcBef>
                <a:spcPts val="0"/>
              </a:spcBef>
              <a:spcAft>
                <a:spcPts val="0"/>
              </a:spcAft>
            </a:pPr>
            <a:r>
              <a:rPr sz="2400" b="1">
                <a:solidFill>
                  <a:srgbClr val="F0E9DA"/>
                </a:solidFill>
                <a:latin typeface="Arial"/>
              </a:rPr>
              <a:t>Bring it to life</a:t>
            </a:r>
          </a:p>
        </p:txBody>
      </p:sp>
      <p:sp>
        <p:nvSpPr>
          <p:cNvPr id="15" name="TextBox 14"/>
          <p:cNvSpPr txBox="1"/>
          <p:nvPr/>
        </p:nvSpPr>
        <p:spPr>
          <a:xfrm>
            <a:off x="1463040" y="3538728"/>
            <a:ext cx="5623560" cy="402336"/>
          </a:xfrm>
          <a:prstGeom prst="rect">
            <a:avLst/>
          </a:prstGeom>
          <a:noFill/>
        </p:spPr>
        <p:txBody>
          <a:bodyPr wrap="square" lIns="0" tIns="0" rIns="0" bIns="0" anchor="t">
            <a:noAutofit/>
          </a:bodyPr>
          <a:lstStyle/>
          <a:p>
            <a:pPr algn="l">
              <a:lnSpc>
                <a:spcPct val="100000"/>
              </a:lnSpc>
              <a:spcBef>
                <a:spcPts val="0"/>
              </a:spcBef>
              <a:spcAft>
                <a:spcPts val="0"/>
              </a:spcAft>
            </a:pPr>
            <a:r>
              <a:rPr sz="1700" b="0">
                <a:solidFill>
                  <a:srgbClr val="ACB9BA"/>
                </a:solidFill>
                <a:latin typeface="Arial"/>
              </a:rPr>
              <a:t>Flight, machinery, workers, pursuit and attack</a:t>
            </a:r>
          </a:p>
        </p:txBody>
      </p:sp>
      <p:sp>
        <p:nvSpPr>
          <p:cNvPr id="16" name="TextBox 15"/>
          <p:cNvSpPr txBox="1"/>
          <p:nvPr/>
        </p:nvSpPr>
        <p:spPr>
          <a:xfrm>
            <a:off x="6217920" y="3154680"/>
            <a:ext cx="1280160" cy="274320"/>
          </a:xfrm>
          <a:prstGeom prst="rect">
            <a:avLst/>
          </a:prstGeom>
          <a:noFill/>
        </p:spPr>
        <p:txBody>
          <a:bodyPr wrap="square" lIns="0" tIns="0" rIns="0" bIns="0" anchor="t">
            <a:noAutofit/>
          </a:bodyPr>
          <a:lstStyle/>
          <a:p>
            <a:pPr algn="r">
              <a:lnSpc>
                <a:spcPct val="100000"/>
              </a:lnSpc>
              <a:spcBef>
                <a:spcPts val="0"/>
              </a:spcBef>
              <a:spcAft>
                <a:spcPts val="0"/>
              </a:spcAft>
            </a:pPr>
            <a:r>
              <a:rPr sz="1300" b="0">
                <a:solidFill>
                  <a:srgbClr val="58CFD1"/>
                </a:solidFill>
                <a:latin typeface="Arial"/>
              </a:rPr>
              <a:t>Slide 6</a:t>
            </a:r>
          </a:p>
        </p:txBody>
      </p:sp>
      <p:cxnSp>
        <p:nvCxnSpPr>
          <p:cNvPr id="17" name="Connector 16"/>
          <p:cNvCxnSpPr/>
          <p:nvPr/>
        </p:nvCxnSpPr>
        <p:spPr>
          <a:xfrm>
            <a:off x="1463040" y="4059936"/>
            <a:ext cx="5943600" cy="0"/>
          </a:xfrm>
          <a:prstGeom prst="line">
            <a:avLst/>
          </a:prstGeom>
          <a:ln w="10160">
            <a:solidFill>
              <a:srgbClr val="42545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4251960"/>
            <a:ext cx="658368" cy="502920"/>
          </a:xfrm>
          <a:prstGeom prst="rect">
            <a:avLst/>
          </a:prstGeom>
          <a:noFill/>
        </p:spPr>
        <p:txBody>
          <a:bodyPr wrap="square" lIns="0" tIns="0" rIns="0" bIns="0" anchor="t">
            <a:noAutofit/>
          </a:bodyPr>
          <a:lstStyle/>
          <a:p>
            <a:pPr algn="l">
              <a:lnSpc>
                <a:spcPct val="100000"/>
              </a:lnSpc>
              <a:spcBef>
                <a:spcPts val="0"/>
              </a:spcBef>
              <a:spcAft>
                <a:spcPts val="0"/>
              </a:spcAft>
            </a:pPr>
            <a:r>
              <a:rPr sz="3200" b="1">
                <a:solidFill>
                  <a:srgbClr val="D5A45E"/>
                </a:solidFill>
                <a:latin typeface="Bahnschrift"/>
              </a:rPr>
              <a:t>03</a:t>
            </a:r>
          </a:p>
        </p:txBody>
      </p:sp>
      <p:sp>
        <p:nvSpPr>
          <p:cNvPr id="19" name="TextBox 18"/>
          <p:cNvSpPr txBox="1"/>
          <p:nvPr/>
        </p:nvSpPr>
        <p:spPr>
          <a:xfrm>
            <a:off x="1463040" y="4270248"/>
            <a:ext cx="5486400" cy="384048"/>
          </a:xfrm>
          <a:prstGeom prst="rect">
            <a:avLst/>
          </a:prstGeom>
          <a:noFill/>
        </p:spPr>
        <p:txBody>
          <a:bodyPr wrap="square" lIns="0" tIns="0" rIns="0" bIns="0" anchor="t">
            <a:noAutofit/>
          </a:bodyPr>
          <a:lstStyle/>
          <a:p>
            <a:pPr algn="l">
              <a:lnSpc>
                <a:spcPct val="100000"/>
              </a:lnSpc>
              <a:spcBef>
                <a:spcPts val="0"/>
              </a:spcBef>
              <a:spcAft>
                <a:spcPts val="0"/>
              </a:spcAft>
            </a:pPr>
            <a:r>
              <a:rPr sz="2400" b="1">
                <a:solidFill>
                  <a:srgbClr val="F0E9DA"/>
                </a:solidFill>
                <a:latin typeface="Arial"/>
              </a:rPr>
              <a:t>Give the player control</a:t>
            </a:r>
          </a:p>
        </p:txBody>
      </p:sp>
      <p:sp>
        <p:nvSpPr>
          <p:cNvPr id="20" name="TextBox 19"/>
          <p:cNvSpPr txBox="1"/>
          <p:nvPr/>
        </p:nvSpPr>
        <p:spPr>
          <a:xfrm>
            <a:off x="1463040" y="4681728"/>
            <a:ext cx="5623560" cy="402336"/>
          </a:xfrm>
          <a:prstGeom prst="rect">
            <a:avLst/>
          </a:prstGeom>
          <a:noFill/>
        </p:spPr>
        <p:txBody>
          <a:bodyPr wrap="square" lIns="0" tIns="0" rIns="0" bIns="0" anchor="t">
            <a:noAutofit/>
          </a:bodyPr>
          <a:lstStyle/>
          <a:p>
            <a:pPr algn="l">
              <a:lnSpc>
                <a:spcPct val="100000"/>
              </a:lnSpc>
              <a:spcBef>
                <a:spcPts val="0"/>
              </a:spcBef>
              <a:spcAft>
                <a:spcPts val="0"/>
              </a:spcAft>
            </a:pPr>
            <a:r>
              <a:rPr sz="1700" b="0">
                <a:solidFill>
                  <a:srgbClr val="ACB9BA"/>
                </a:solidFill>
                <a:latin typeface="Arial"/>
              </a:rPr>
              <a:t>Keyboard + mouse, three cameras, winch and delivery</a:t>
            </a:r>
          </a:p>
        </p:txBody>
      </p:sp>
      <p:sp>
        <p:nvSpPr>
          <p:cNvPr id="21" name="TextBox 20"/>
          <p:cNvSpPr txBox="1"/>
          <p:nvPr/>
        </p:nvSpPr>
        <p:spPr>
          <a:xfrm>
            <a:off x="6217920" y="4297680"/>
            <a:ext cx="1280160" cy="274320"/>
          </a:xfrm>
          <a:prstGeom prst="rect">
            <a:avLst/>
          </a:prstGeom>
          <a:noFill/>
        </p:spPr>
        <p:txBody>
          <a:bodyPr wrap="square" lIns="0" tIns="0" rIns="0" bIns="0" anchor="t">
            <a:noAutofit/>
          </a:bodyPr>
          <a:lstStyle/>
          <a:p>
            <a:pPr algn="r">
              <a:lnSpc>
                <a:spcPct val="100000"/>
              </a:lnSpc>
              <a:spcBef>
                <a:spcPts val="0"/>
              </a:spcBef>
              <a:spcAft>
                <a:spcPts val="0"/>
              </a:spcAft>
            </a:pPr>
            <a:r>
              <a:rPr sz="1300" b="0">
                <a:solidFill>
                  <a:srgbClr val="58CFD1"/>
                </a:solidFill>
                <a:latin typeface="Arial"/>
              </a:rPr>
              <a:t>Slide 7</a:t>
            </a:r>
          </a:p>
        </p:txBody>
      </p:sp>
      <p:cxnSp>
        <p:nvCxnSpPr>
          <p:cNvPr id="22" name="Connector 21"/>
          <p:cNvCxnSpPr/>
          <p:nvPr/>
        </p:nvCxnSpPr>
        <p:spPr>
          <a:xfrm>
            <a:off x="1463040" y="5202936"/>
            <a:ext cx="5943600" cy="0"/>
          </a:xfrm>
          <a:prstGeom prst="line">
            <a:avLst/>
          </a:prstGeom>
          <a:ln w="10160">
            <a:solidFill>
              <a:srgbClr val="42545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94360" y="5394960"/>
            <a:ext cx="658368" cy="502920"/>
          </a:xfrm>
          <a:prstGeom prst="rect">
            <a:avLst/>
          </a:prstGeom>
          <a:noFill/>
        </p:spPr>
        <p:txBody>
          <a:bodyPr wrap="square" lIns="0" tIns="0" rIns="0" bIns="0" anchor="t">
            <a:noAutofit/>
          </a:bodyPr>
          <a:lstStyle/>
          <a:p>
            <a:pPr algn="l">
              <a:lnSpc>
                <a:spcPct val="100000"/>
              </a:lnSpc>
              <a:spcBef>
                <a:spcPts val="0"/>
              </a:spcBef>
              <a:spcAft>
                <a:spcPts val="0"/>
              </a:spcAft>
            </a:pPr>
            <a:r>
              <a:rPr sz="3200" b="1">
                <a:solidFill>
                  <a:srgbClr val="D5A45E"/>
                </a:solidFill>
                <a:latin typeface="Bahnschrift"/>
              </a:rPr>
              <a:t>04</a:t>
            </a:r>
          </a:p>
        </p:txBody>
      </p:sp>
      <p:sp>
        <p:nvSpPr>
          <p:cNvPr id="24" name="TextBox 23"/>
          <p:cNvSpPr txBox="1"/>
          <p:nvPr/>
        </p:nvSpPr>
        <p:spPr>
          <a:xfrm>
            <a:off x="1463040" y="5413248"/>
            <a:ext cx="5486400" cy="384048"/>
          </a:xfrm>
          <a:prstGeom prst="rect">
            <a:avLst/>
          </a:prstGeom>
          <a:noFill/>
        </p:spPr>
        <p:txBody>
          <a:bodyPr wrap="square" lIns="0" tIns="0" rIns="0" bIns="0" anchor="t">
            <a:noAutofit/>
          </a:bodyPr>
          <a:lstStyle/>
          <a:p>
            <a:pPr algn="l">
              <a:lnSpc>
                <a:spcPct val="100000"/>
              </a:lnSpc>
              <a:spcBef>
                <a:spcPts val="0"/>
              </a:spcBef>
              <a:spcAft>
                <a:spcPts val="0"/>
              </a:spcAft>
            </a:pPr>
            <a:r>
              <a:rPr sz="2400" b="1">
                <a:solidFill>
                  <a:srgbClr val="F0E9DA"/>
                </a:solidFill>
                <a:latin typeface="Arial"/>
              </a:rPr>
              <a:t>Explain the result</a:t>
            </a:r>
          </a:p>
        </p:txBody>
      </p:sp>
      <p:sp>
        <p:nvSpPr>
          <p:cNvPr id="25" name="TextBox 24"/>
          <p:cNvSpPr txBox="1"/>
          <p:nvPr/>
        </p:nvSpPr>
        <p:spPr>
          <a:xfrm>
            <a:off x="1463040" y="5824728"/>
            <a:ext cx="5623560" cy="402336"/>
          </a:xfrm>
          <a:prstGeom prst="rect">
            <a:avLst/>
          </a:prstGeom>
          <a:noFill/>
        </p:spPr>
        <p:txBody>
          <a:bodyPr wrap="square" lIns="0" tIns="0" rIns="0" bIns="0" anchor="t">
            <a:noAutofit/>
          </a:bodyPr>
          <a:lstStyle/>
          <a:p>
            <a:pPr algn="l">
              <a:lnSpc>
                <a:spcPct val="100000"/>
              </a:lnSpc>
              <a:spcBef>
                <a:spcPts val="0"/>
              </a:spcBef>
              <a:spcAft>
                <a:spcPts val="0"/>
              </a:spcAft>
            </a:pPr>
            <a:r>
              <a:rPr sz="1700" b="0">
                <a:solidFill>
                  <a:srgbClr val="ACB9BA"/>
                </a:solidFill>
                <a:latin typeface="Arial"/>
              </a:rPr>
              <a:t>Rendering, feedback, audio and verification</a:t>
            </a:r>
          </a:p>
        </p:txBody>
      </p:sp>
      <p:sp>
        <p:nvSpPr>
          <p:cNvPr id="26" name="TextBox 25"/>
          <p:cNvSpPr txBox="1"/>
          <p:nvPr/>
        </p:nvSpPr>
        <p:spPr>
          <a:xfrm>
            <a:off x="6217920" y="5440680"/>
            <a:ext cx="1280160" cy="274320"/>
          </a:xfrm>
          <a:prstGeom prst="rect">
            <a:avLst/>
          </a:prstGeom>
          <a:noFill/>
        </p:spPr>
        <p:txBody>
          <a:bodyPr wrap="square" lIns="0" tIns="0" rIns="0" bIns="0" anchor="t">
            <a:noAutofit/>
          </a:bodyPr>
          <a:lstStyle/>
          <a:p>
            <a:pPr algn="r">
              <a:lnSpc>
                <a:spcPct val="100000"/>
              </a:lnSpc>
              <a:spcBef>
                <a:spcPts val="0"/>
              </a:spcBef>
              <a:spcAft>
                <a:spcPts val="0"/>
              </a:spcAft>
            </a:pPr>
            <a:r>
              <a:rPr sz="1300" b="0">
                <a:solidFill>
                  <a:srgbClr val="58CFD1"/>
                </a:solidFill>
                <a:latin typeface="Arial"/>
              </a:rPr>
              <a:t>Slides 8-9</a:t>
            </a:r>
          </a:p>
        </p:txBody>
      </p:sp>
      <p:cxnSp>
        <p:nvCxnSpPr>
          <p:cNvPr id="27" name="Connector 26"/>
          <p:cNvCxnSpPr/>
          <p:nvPr/>
        </p:nvCxnSpPr>
        <p:spPr>
          <a:xfrm>
            <a:off x="1463040" y="6345936"/>
            <a:ext cx="5943600" cy="0"/>
          </a:xfrm>
          <a:prstGeom prst="line">
            <a:avLst/>
          </a:prstGeom>
          <a:ln w="10160">
            <a:solidFill>
              <a:srgbClr val="42545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58200" y="1938528"/>
            <a:ext cx="5212080" cy="384048"/>
          </a:xfrm>
          <a:prstGeom prst="rect">
            <a:avLst/>
          </a:prstGeom>
          <a:noFill/>
        </p:spPr>
        <p:txBody>
          <a:bodyPr wrap="square" lIns="0" tIns="0" rIns="0" bIns="0" anchor="t">
            <a:noAutofit/>
          </a:bodyPr>
          <a:lstStyle/>
          <a:p>
            <a:pPr algn="l">
              <a:lnSpc>
                <a:spcPct val="100000"/>
              </a:lnSpc>
              <a:spcBef>
                <a:spcPts val="0"/>
              </a:spcBef>
              <a:spcAft>
                <a:spcPts val="0"/>
              </a:spcAft>
            </a:pPr>
            <a:r>
              <a:rPr sz="2100" b="1">
                <a:solidFill>
                  <a:srgbClr val="D5A45E"/>
                </a:solidFill>
                <a:latin typeface="Arial"/>
              </a:rPr>
              <a:t>THE RESCUE LOOP</a:t>
            </a:r>
          </a:p>
        </p:txBody>
      </p:sp>
      <p:sp>
        <p:nvSpPr>
          <p:cNvPr id="29" name="Rectangle 28"/>
          <p:cNvSpPr/>
          <p:nvPr/>
        </p:nvSpPr>
        <p:spPr>
          <a:xfrm>
            <a:off x="8458200" y="2542032"/>
            <a:ext cx="5257800" cy="731520"/>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641080" y="2615184"/>
            <a:ext cx="4754880" cy="365760"/>
          </a:xfrm>
          <a:prstGeom prst="rect">
            <a:avLst/>
          </a:prstGeom>
          <a:noFill/>
        </p:spPr>
        <p:txBody>
          <a:bodyPr wrap="square" lIns="0" tIns="0" rIns="0" bIns="0" anchor="t">
            <a:noAutofit/>
          </a:bodyPr>
          <a:lstStyle/>
          <a:p>
            <a:pPr algn="l">
              <a:lnSpc>
                <a:spcPct val="100000"/>
              </a:lnSpc>
              <a:spcBef>
                <a:spcPts val="0"/>
              </a:spcBef>
              <a:spcAft>
                <a:spcPts val="0"/>
              </a:spcAft>
            </a:pPr>
            <a:r>
              <a:rPr sz="2300" b="1">
                <a:solidFill>
                  <a:srgbClr val="58CFD1"/>
                </a:solidFill>
                <a:latin typeface="Arial"/>
              </a:rPr>
              <a:t>36 workers</a:t>
            </a:r>
          </a:p>
        </p:txBody>
      </p:sp>
      <p:sp>
        <p:nvSpPr>
          <p:cNvPr id="31" name="TextBox 30"/>
          <p:cNvSpPr txBox="1"/>
          <p:nvPr/>
        </p:nvSpPr>
        <p:spPr>
          <a:xfrm>
            <a:off x="8641080" y="2990088"/>
            <a:ext cx="4892040" cy="256032"/>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F0E9DA"/>
                </a:solidFill>
                <a:latin typeface="Arial"/>
              </a:rPr>
              <a:t>Leave the moving harvester</a:t>
            </a:r>
          </a:p>
        </p:txBody>
      </p:sp>
      <p:sp>
        <p:nvSpPr>
          <p:cNvPr id="32" name="Rectangle 31"/>
          <p:cNvSpPr/>
          <p:nvPr/>
        </p:nvSpPr>
        <p:spPr>
          <a:xfrm>
            <a:off x="8458200" y="3502152"/>
            <a:ext cx="5257800" cy="731520"/>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641080" y="3575304"/>
            <a:ext cx="4754880" cy="365760"/>
          </a:xfrm>
          <a:prstGeom prst="rect">
            <a:avLst/>
          </a:prstGeom>
          <a:noFill/>
        </p:spPr>
        <p:txBody>
          <a:bodyPr wrap="square" lIns="0" tIns="0" rIns="0" bIns="0" anchor="t">
            <a:noAutofit/>
          </a:bodyPr>
          <a:lstStyle/>
          <a:p>
            <a:pPr algn="l">
              <a:lnSpc>
                <a:spcPct val="100000"/>
              </a:lnSpc>
              <a:spcBef>
                <a:spcPts val="0"/>
              </a:spcBef>
              <a:spcAft>
                <a:spcPts val="0"/>
              </a:spcAft>
            </a:pPr>
            <a:r>
              <a:rPr sz="2300" b="1">
                <a:solidFill>
                  <a:srgbClr val="58CFD1"/>
                </a:solidFill>
                <a:latin typeface="Arial"/>
              </a:rPr>
              <a:t>8-seat cabin</a:t>
            </a:r>
          </a:p>
        </p:txBody>
      </p:sp>
      <p:sp>
        <p:nvSpPr>
          <p:cNvPr id="34" name="TextBox 33"/>
          <p:cNvSpPr txBox="1"/>
          <p:nvPr/>
        </p:nvSpPr>
        <p:spPr>
          <a:xfrm>
            <a:off x="8641080" y="3950208"/>
            <a:ext cx="4892040" cy="256032"/>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F0E9DA"/>
                </a:solidFill>
                <a:latin typeface="Arial"/>
              </a:rPr>
              <a:t>Hover and winch in small loads</a:t>
            </a:r>
          </a:p>
        </p:txBody>
      </p:sp>
      <p:sp>
        <p:nvSpPr>
          <p:cNvPr id="35" name="Rectangle 34"/>
          <p:cNvSpPr/>
          <p:nvPr/>
        </p:nvSpPr>
        <p:spPr>
          <a:xfrm>
            <a:off x="8458200" y="4462272"/>
            <a:ext cx="5257800" cy="731520"/>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641080" y="4535424"/>
            <a:ext cx="4754880" cy="365760"/>
          </a:xfrm>
          <a:prstGeom prst="rect">
            <a:avLst/>
          </a:prstGeom>
          <a:noFill/>
        </p:spPr>
        <p:txBody>
          <a:bodyPr wrap="square" lIns="0" tIns="0" rIns="0" bIns="0" anchor="t">
            <a:noAutofit/>
          </a:bodyPr>
          <a:lstStyle/>
          <a:p>
            <a:pPr algn="l">
              <a:lnSpc>
                <a:spcPct val="100000"/>
              </a:lnSpc>
              <a:spcBef>
                <a:spcPts val="0"/>
              </a:spcBef>
              <a:spcAft>
                <a:spcPts val="0"/>
              </a:spcAft>
            </a:pPr>
            <a:r>
              <a:rPr sz="2300" b="1">
                <a:solidFill>
                  <a:srgbClr val="58CFD1"/>
                </a:solidFill>
                <a:latin typeface="Arial"/>
              </a:rPr>
              <a:t>Cyan base</a:t>
            </a:r>
          </a:p>
        </p:txBody>
      </p:sp>
      <p:sp>
        <p:nvSpPr>
          <p:cNvPr id="37" name="TextBox 36"/>
          <p:cNvSpPr txBox="1"/>
          <p:nvPr/>
        </p:nvSpPr>
        <p:spPr>
          <a:xfrm>
            <a:off x="8641080" y="4910328"/>
            <a:ext cx="4892040" cy="256032"/>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F0E9DA"/>
                </a:solidFill>
                <a:latin typeface="Arial"/>
              </a:rPr>
              <a:t>Deliver: only then does score increase</a:t>
            </a:r>
          </a:p>
        </p:txBody>
      </p:sp>
      <p:sp>
        <p:nvSpPr>
          <p:cNvPr id="38" name="Rectangle 37"/>
          <p:cNvSpPr/>
          <p:nvPr/>
        </p:nvSpPr>
        <p:spPr>
          <a:xfrm>
            <a:off x="8458200" y="5422392"/>
            <a:ext cx="5257800" cy="731520"/>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641080" y="5495544"/>
            <a:ext cx="4754880" cy="365760"/>
          </a:xfrm>
          <a:prstGeom prst="rect">
            <a:avLst/>
          </a:prstGeom>
          <a:noFill/>
        </p:spPr>
        <p:txBody>
          <a:bodyPr wrap="square" lIns="0" tIns="0" rIns="0" bIns="0" anchor="t">
            <a:noAutofit/>
          </a:bodyPr>
          <a:lstStyle/>
          <a:p>
            <a:pPr algn="l">
              <a:lnSpc>
                <a:spcPct val="100000"/>
              </a:lnSpc>
              <a:spcBef>
                <a:spcPts val="0"/>
              </a:spcBef>
              <a:spcAft>
                <a:spcPts val="0"/>
              </a:spcAft>
            </a:pPr>
            <a:r>
              <a:rPr sz="2300" b="1">
                <a:solidFill>
                  <a:srgbClr val="58CFD1"/>
                </a:solidFill>
                <a:latin typeface="Arial"/>
              </a:rPr>
              <a:t>Threat + outcome</a:t>
            </a:r>
          </a:p>
        </p:txBody>
      </p:sp>
      <p:sp>
        <p:nvSpPr>
          <p:cNvPr id="40" name="TextBox 39"/>
          <p:cNvSpPr txBox="1"/>
          <p:nvPr/>
        </p:nvSpPr>
        <p:spPr>
          <a:xfrm>
            <a:off x="8641080" y="5870448"/>
            <a:ext cx="4892040" cy="256032"/>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F0E9DA"/>
                </a:solidFill>
                <a:latin typeface="Arial"/>
              </a:rPr>
              <a:t>Breach, extraction, debrief and retry</a:t>
            </a:r>
          </a:p>
        </p:txBody>
      </p:sp>
      <p:sp>
        <p:nvSpPr>
          <p:cNvPr id="41" name="Rectangle 40"/>
          <p:cNvSpPr/>
          <p:nvPr/>
        </p:nvSpPr>
        <p:spPr>
          <a:xfrm>
            <a:off x="548640" y="7296912"/>
            <a:ext cx="13533120" cy="365760"/>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48640" y="7296912"/>
            <a:ext cx="36576" cy="365760"/>
          </a:xfrm>
          <a:prstGeom prst="rect">
            <a:avLst/>
          </a:prstGeom>
          <a:solidFill>
            <a:srgbClr val="58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94944" y="7370064"/>
            <a:ext cx="13304520" cy="237744"/>
          </a:xfrm>
          <a:prstGeom prst="rect">
            <a:avLst/>
          </a:prstGeom>
          <a:noFill/>
        </p:spPr>
        <p:txBody>
          <a:bodyPr wrap="square" lIns="0" tIns="0" rIns="0" bIns="0" anchor="t">
            <a:noAutofit/>
          </a:bodyPr>
          <a:lstStyle/>
          <a:p>
            <a:pPr algn="l">
              <a:lnSpc>
                <a:spcPct val="100000"/>
              </a:lnSpc>
              <a:spcBef>
                <a:spcPts val="0"/>
              </a:spcBef>
              <a:spcAft>
                <a:spcPts val="0"/>
              </a:spcAft>
            </a:pPr>
            <a:r>
              <a:rPr sz="1500" b="0">
                <a:solidFill>
                  <a:srgbClr val="58CFD1"/>
                </a:solidFill>
                <a:latin typeface="Arial"/>
              </a:rPr>
              <a:t>SOURCE + AUDIO  &gt;  GENERATED MESHES  &gt;  INPUT / SIMULATION  &gt;  CAMERA / AUDIO  &gt;  GPU FRAME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181E"/>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252728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1">
                <a:solidFill>
                  <a:srgbClr val="D5A45E"/>
                </a:solidFill>
                <a:latin typeface="Arial"/>
              </a:rPr>
              <a:t>OBJECTS / 1 OF 2</a:t>
            </a:r>
          </a:p>
        </p:txBody>
      </p:sp>
      <p:sp>
        <p:nvSpPr>
          <p:cNvPr id="3" name="TextBox 2"/>
          <p:cNvSpPr txBox="1"/>
          <p:nvPr/>
        </p:nvSpPr>
        <p:spPr>
          <a:xfrm>
            <a:off x="548640" y="694944"/>
            <a:ext cx="13350240" cy="594360"/>
          </a:xfrm>
          <a:prstGeom prst="rect">
            <a:avLst/>
          </a:prstGeom>
          <a:noFill/>
        </p:spPr>
        <p:txBody>
          <a:bodyPr wrap="square" lIns="0" tIns="0" rIns="0" bIns="0" anchor="t">
            <a:noAutofit/>
          </a:bodyPr>
          <a:lstStyle/>
          <a:p>
            <a:pPr algn="l">
              <a:lnSpc>
                <a:spcPct val="100000"/>
              </a:lnSpc>
              <a:spcBef>
                <a:spcPts val="0"/>
              </a:spcBef>
              <a:spcAft>
                <a:spcPts val="0"/>
              </a:spcAft>
            </a:pPr>
            <a:r>
              <a:rPr sz="3600" b="1">
                <a:solidFill>
                  <a:srgbClr val="F0E9DA"/>
                </a:solidFill>
                <a:latin typeface="Bahnschrift"/>
              </a:rPr>
              <a:t>Objects I / Desert and machines</a:t>
            </a:r>
          </a:p>
        </p:txBody>
      </p:sp>
      <p:sp>
        <p:nvSpPr>
          <p:cNvPr id="4" name="TextBox 3"/>
          <p:cNvSpPr txBox="1"/>
          <p:nvPr/>
        </p:nvSpPr>
        <p:spPr>
          <a:xfrm>
            <a:off x="566928" y="1316736"/>
            <a:ext cx="13441680" cy="329184"/>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ACB9BA"/>
                </a:solidFill>
                <a:latin typeface="Arial"/>
              </a:rPr>
              <a:t>Every visible model is generated in code, assembled from indexed meshes, and shaded in real time.</a:t>
            </a:r>
          </a:p>
        </p:txBody>
      </p:sp>
      <p:cxnSp>
        <p:nvCxnSpPr>
          <p:cNvPr id="5" name="Connector 4"/>
          <p:cNvCxnSpPr/>
          <p:nvPr/>
        </p:nvCxnSpPr>
        <p:spPr>
          <a:xfrm>
            <a:off x="548640" y="7772400"/>
            <a:ext cx="13533120" cy="0"/>
          </a:xfrm>
          <a:prstGeom prst="line">
            <a:avLst/>
          </a:prstGeom>
          <a:ln w="12700">
            <a:solidFill>
              <a:srgbClr val="42545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7900416"/>
            <a:ext cx="11338560" cy="219456"/>
          </a:xfrm>
          <a:prstGeom prst="rect">
            <a:avLst/>
          </a:prstGeom>
          <a:noFill/>
        </p:spPr>
        <p:txBody>
          <a:bodyPr wrap="square" lIns="0" tIns="0" rIns="0" bIns="0" anchor="t">
            <a:noAutofit/>
          </a:bodyPr>
          <a:lstStyle/>
          <a:p>
            <a:pPr algn="l">
              <a:lnSpc>
                <a:spcPct val="100000"/>
              </a:lnSpc>
              <a:spcBef>
                <a:spcPts val="0"/>
              </a:spcBef>
              <a:spcAft>
                <a:spcPts val="0"/>
              </a:spcAft>
            </a:pPr>
            <a:r>
              <a:rPr sz="1000" b="0">
                <a:solidFill>
                  <a:srgbClr val="ACB9BA"/>
                </a:solidFill>
                <a:latin typeface="Arial"/>
              </a:rPr>
              <a:t>ARRAKIS / HARVESTER DOWN     |     ASIQUE EHETASAMUL HAQUE     |     CSE 4102</a:t>
            </a:r>
          </a:p>
        </p:txBody>
      </p:sp>
      <p:sp>
        <p:nvSpPr>
          <p:cNvPr id="7" name="TextBox 6"/>
          <p:cNvSpPr txBox="1"/>
          <p:nvPr/>
        </p:nvSpPr>
        <p:spPr>
          <a:xfrm>
            <a:off x="13167360" y="7863840"/>
            <a:ext cx="914400" cy="274320"/>
          </a:xfrm>
          <a:prstGeom prst="rect">
            <a:avLst/>
          </a:prstGeom>
          <a:noFill/>
        </p:spPr>
        <p:txBody>
          <a:bodyPr wrap="square" lIns="0" tIns="0" rIns="0" bIns="0" anchor="t">
            <a:noAutofit/>
          </a:bodyPr>
          <a:lstStyle/>
          <a:p>
            <a:pPr algn="r">
              <a:lnSpc>
                <a:spcPct val="100000"/>
              </a:lnSpc>
              <a:spcBef>
                <a:spcPts val="0"/>
              </a:spcBef>
              <a:spcAft>
                <a:spcPts val="0"/>
              </a:spcAft>
            </a:pPr>
            <a:r>
              <a:rPr sz="1300" b="1">
                <a:solidFill>
                  <a:srgbClr val="D5A45E"/>
                </a:solidFill>
                <a:latin typeface="Arial"/>
              </a:rPr>
              <a:t>03 / 10</a:t>
            </a:r>
          </a:p>
        </p:txBody>
      </p:sp>
      <p:sp>
        <p:nvSpPr>
          <p:cNvPr id="8" name="TextBox 7"/>
          <p:cNvSpPr txBox="1"/>
          <p:nvPr/>
        </p:nvSpPr>
        <p:spPr>
          <a:xfrm>
            <a:off x="548640" y="1911095"/>
            <a:ext cx="4297680" cy="274320"/>
          </a:xfrm>
          <a:prstGeom prst="rect">
            <a:avLst/>
          </a:prstGeom>
          <a:noFill/>
        </p:spPr>
        <p:txBody>
          <a:bodyPr wrap="square" lIns="0" tIns="0" rIns="0" bIns="0" anchor="t">
            <a:noAutofit/>
          </a:bodyPr>
          <a:lstStyle/>
          <a:p>
            <a:pPr algn="l">
              <a:lnSpc>
                <a:spcPct val="100000"/>
              </a:lnSpc>
              <a:spcBef>
                <a:spcPts val="0"/>
              </a:spcBef>
              <a:spcAft>
                <a:spcPts val="0"/>
              </a:spcAft>
            </a:pPr>
            <a:r>
              <a:rPr sz="1700" b="1">
                <a:solidFill>
                  <a:srgbClr val="D5A45E"/>
                </a:solidFill>
                <a:latin typeface="Arial"/>
              </a:rPr>
              <a:t>01 / DUNE TERRAIN</a:t>
            </a:r>
          </a:p>
        </p:txBody>
      </p:sp>
      <p:cxnSp>
        <p:nvCxnSpPr>
          <p:cNvPr id="9" name="Connector 8"/>
          <p:cNvCxnSpPr/>
          <p:nvPr/>
        </p:nvCxnSpPr>
        <p:spPr>
          <a:xfrm>
            <a:off x="548640" y="2221992"/>
            <a:ext cx="4297680" cy="0"/>
          </a:xfrm>
          <a:prstGeom prst="line">
            <a:avLst/>
          </a:prstGeom>
          <a:ln w="8890">
            <a:solidFill>
              <a:srgbClr val="42545B"/>
            </a:solidFill>
          </a:ln>
        </p:spPr>
        <p:style>
          <a:lnRef idx="2">
            <a:schemeClr val="accent1"/>
          </a:lnRef>
          <a:fillRef idx="0">
            <a:schemeClr val="accent1"/>
          </a:fillRef>
          <a:effectRef idx="1">
            <a:schemeClr val="accent1"/>
          </a:effectRef>
          <a:fontRef idx="minor">
            <a:schemeClr val="tx1"/>
          </a:fontRef>
        </p:style>
      </p:cxnSp>
      <p:pic>
        <p:nvPicPr>
          <p:cNvPr id="10" name="Picture 9" descr="camera_0.png"/>
          <p:cNvPicPr>
            <a:picLocks noChangeAspect="1"/>
          </p:cNvPicPr>
          <p:nvPr/>
        </p:nvPicPr>
        <p:blipFill>
          <a:blip r:embed="rId3"/>
          <a:srcRect t="16336" b="16336"/>
          <a:stretch>
            <a:fillRect/>
          </a:stretch>
        </p:blipFill>
        <p:spPr>
          <a:xfrm>
            <a:off x="548640" y="2322576"/>
            <a:ext cx="4297680" cy="1627632"/>
          </a:xfrm>
          <a:prstGeom prst="rect">
            <a:avLst/>
          </a:prstGeom>
        </p:spPr>
      </p:pic>
      <p:sp>
        <p:nvSpPr>
          <p:cNvPr id="11" name="TextBox 10"/>
          <p:cNvSpPr txBox="1"/>
          <p:nvPr/>
        </p:nvSpPr>
        <p:spPr>
          <a:xfrm>
            <a:off x="548640" y="4023360"/>
            <a:ext cx="4389120" cy="576072"/>
          </a:xfrm>
          <a:prstGeom prst="rect">
            <a:avLst/>
          </a:prstGeom>
          <a:noFill/>
        </p:spPr>
        <p:txBody>
          <a:bodyPr wrap="square" lIns="0" tIns="0" rIns="0" bIns="0" anchor="t">
            <a:noAutofit/>
          </a:bodyPr>
          <a:lstStyle/>
          <a:p>
            <a:pPr algn="l">
              <a:lnSpc>
                <a:spcPct val="100000"/>
              </a:lnSpc>
              <a:spcBef>
                <a:spcPts val="0"/>
              </a:spcBef>
              <a:spcAft>
                <a:spcPts val="0"/>
              </a:spcAft>
            </a:pPr>
            <a:r>
              <a:rPr sz="1550" b="0">
                <a:solidFill>
                  <a:srgbClr val="F0E9DA"/>
                </a:solidFill>
                <a:latin typeface="Arial"/>
              </a:rPr>
              <a:t>900 x 900 patch; 260 x 260 cells.</a:t>
            </a:r>
          </a:p>
          <a:p>
            <a:pPr algn="l">
              <a:lnSpc>
                <a:spcPct val="100000"/>
              </a:lnSpc>
              <a:spcBef>
                <a:spcPts val="0"/>
              </a:spcBef>
              <a:spcAft>
                <a:spcPts val="0"/>
              </a:spcAft>
            </a:pPr>
            <a:r>
              <a:rPr sz="1550" b="0">
                <a:solidFill>
                  <a:srgbClr val="F0E9DA"/>
                </a:solidFill>
                <a:latin typeface="Arial"/>
              </a:rPr>
              <a:t>Height field, smooth normals, flat base terrace.</a:t>
            </a:r>
          </a:p>
        </p:txBody>
      </p:sp>
      <p:sp>
        <p:nvSpPr>
          <p:cNvPr id="12" name="TextBox 11"/>
          <p:cNvSpPr txBox="1"/>
          <p:nvPr/>
        </p:nvSpPr>
        <p:spPr>
          <a:xfrm>
            <a:off x="5166360" y="1911095"/>
            <a:ext cx="4297680" cy="274320"/>
          </a:xfrm>
          <a:prstGeom prst="rect">
            <a:avLst/>
          </a:prstGeom>
          <a:noFill/>
        </p:spPr>
        <p:txBody>
          <a:bodyPr wrap="square" lIns="0" tIns="0" rIns="0" bIns="0" anchor="t">
            <a:noAutofit/>
          </a:bodyPr>
          <a:lstStyle/>
          <a:p>
            <a:pPr algn="l">
              <a:lnSpc>
                <a:spcPct val="100000"/>
              </a:lnSpc>
              <a:spcBef>
                <a:spcPts val="0"/>
              </a:spcBef>
              <a:spcAft>
                <a:spcPts val="0"/>
              </a:spcAft>
            </a:pPr>
            <a:r>
              <a:rPr sz="1700" b="1">
                <a:solidFill>
                  <a:srgbClr val="D5A45E"/>
                </a:solidFill>
                <a:latin typeface="Arial"/>
              </a:rPr>
              <a:t>02 / ORNITHOPTER</a:t>
            </a:r>
          </a:p>
        </p:txBody>
      </p:sp>
      <p:cxnSp>
        <p:nvCxnSpPr>
          <p:cNvPr id="13" name="Connector 12"/>
          <p:cNvCxnSpPr/>
          <p:nvPr/>
        </p:nvCxnSpPr>
        <p:spPr>
          <a:xfrm>
            <a:off x="5166360" y="2221992"/>
            <a:ext cx="4297680" cy="0"/>
          </a:xfrm>
          <a:prstGeom prst="line">
            <a:avLst/>
          </a:prstGeom>
          <a:ln w="8890">
            <a:solidFill>
              <a:srgbClr val="42545B"/>
            </a:solidFill>
          </a:ln>
        </p:spPr>
        <p:style>
          <a:lnRef idx="2">
            <a:schemeClr val="accent1"/>
          </a:lnRef>
          <a:fillRef idx="0">
            <a:schemeClr val="accent1"/>
          </a:fillRef>
          <a:effectRef idx="1">
            <a:schemeClr val="accent1"/>
          </a:effectRef>
          <a:fontRef idx="minor">
            <a:schemeClr val="tx1"/>
          </a:fontRef>
        </p:style>
      </p:cxnSp>
      <p:pic>
        <p:nvPicPr>
          <p:cNvPr id="14" name="Picture 13" descr="aircraft_crop.png"/>
          <p:cNvPicPr>
            <a:picLocks noChangeAspect="1"/>
          </p:cNvPicPr>
          <p:nvPr/>
        </p:nvPicPr>
        <p:blipFill>
          <a:blip r:embed="rId4"/>
          <a:srcRect t="14323" b="14323"/>
          <a:stretch>
            <a:fillRect/>
          </a:stretch>
        </p:blipFill>
        <p:spPr>
          <a:xfrm>
            <a:off x="5166360" y="2322576"/>
            <a:ext cx="4297680" cy="1627632"/>
          </a:xfrm>
          <a:prstGeom prst="rect">
            <a:avLst/>
          </a:prstGeom>
        </p:spPr>
      </p:pic>
      <p:sp>
        <p:nvSpPr>
          <p:cNvPr id="15" name="TextBox 14"/>
          <p:cNvSpPr txBox="1"/>
          <p:nvPr/>
        </p:nvSpPr>
        <p:spPr>
          <a:xfrm>
            <a:off x="5166360" y="4023360"/>
            <a:ext cx="4389120" cy="576072"/>
          </a:xfrm>
          <a:prstGeom prst="rect">
            <a:avLst/>
          </a:prstGeom>
          <a:noFill/>
        </p:spPr>
        <p:txBody>
          <a:bodyPr wrap="square" lIns="0" tIns="0" rIns="0" bIns="0" anchor="t">
            <a:noAutofit/>
          </a:bodyPr>
          <a:lstStyle/>
          <a:p>
            <a:pPr algn="l">
              <a:lnSpc>
                <a:spcPct val="100000"/>
              </a:lnSpc>
              <a:spcBef>
                <a:spcPts val="0"/>
              </a:spcBef>
              <a:spcAft>
                <a:spcPts val="0"/>
              </a:spcAft>
            </a:pPr>
            <a:r>
              <a:rPr sz="1550" b="0">
                <a:solidFill>
                  <a:srgbClr val="F0E9DA"/>
                </a:solidFill>
                <a:latin typeface="Arial"/>
              </a:rPr>
              <a:t>Eight wings; hull/canopy, intakes, gimbals,</a:t>
            </a:r>
          </a:p>
          <a:p>
            <a:pPr algn="l">
              <a:lnSpc>
                <a:spcPct val="100000"/>
              </a:lnSpc>
              <a:spcBef>
                <a:spcPts val="0"/>
              </a:spcBef>
              <a:spcAft>
                <a:spcPts val="0"/>
              </a:spcAft>
            </a:pPr>
            <a:r>
              <a:rPr sz="1550" b="0">
                <a:solidFill>
                  <a:srgbClr val="F0E9DA"/>
                </a:solidFill>
                <a:latin typeface="Arial"/>
              </a:rPr>
              <a:t>turbines/nozzles, tail, sensor and fixed skids.</a:t>
            </a:r>
          </a:p>
        </p:txBody>
      </p:sp>
      <p:sp>
        <p:nvSpPr>
          <p:cNvPr id="16" name="TextBox 15"/>
          <p:cNvSpPr txBox="1"/>
          <p:nvPr/>
        </p:nvSpPr>
        <p:spPr>
          <a:xfrm>
            <a:off x="9784080" y="1911095"/>
            <a:ext cx="4297680" cy="274320"/>
          </a:xfrm>
          <a:prstGeom prst="rect">
            <a:avLst/>
          </a:prstGeom>
          <a:noFill/>
        </p:spPr>
        <p:txBody>
          <a:bodyPr wrap="square" lIns="0" tIns="0" rIns="0" bIns="0" anchor="t">
            <a:noAutofit/>
          </a:bodyPr>
          <a:lstStyle/>
          <a:p>
            <a:pPr algn="l">
              <a:lnSpc>
                <a:spcPct val="100000"/>
              </a:lnSpc>
              <a:spcBef>
                <a:spcPts val="0"/>
              </a:spcBef>
              <a:spcAft>
                <a:spcPts val="0"/>
              </a:spcAft>
            </a:pPr>
            <a:r>
              <a:rPr sz="1700" b="1">
                <a:solidFill>
                  <a:srgbClr val="D5A45E"/>
                </a:solidFill>
                <a:latin typeface="Arial"/>
              </a:rPr>
              <a:t>03 / SPICE HARVESTER</a:t>
            </a:r>
          </a:p>
        </p:txBody>
      </p:sp>
      <p:cxnSp>
        <p:nvCxnSpPr>
          <p:cNvPr id="17" name="Connector 16"/>
          <p:cNvCxnSpPr/>
          <p:nvPr/>
        </p:nvCxnSpPr>
        <p:spPr>
          <a:xfrm>
            <a:off x="9784080" y="2221992"/>
            <a:ext cx="4297680" cy="0"/>
          </a:xfrm>
          <a:prstGeom prst="line">
            <a:avLst/>
          </a:prstGeom>
          <a:ln w="8890">
            <a:solidFill>
              <a:srgbClr val="42545B"/>
            </a:solidFill>
          </a:ln>
        </p:spPr>
        <p:style>
          <a:lnRef idx="2">
            <a:schemeClr val="accent1"/>
          </a:lnRef>
          <a:fillRef idx="0">
            <a:schemeClr val="accent1"/>
          </a:fillRef>
          <a:effectRef idx="1">
            <a:schemeClr val="accent1"/>
          </a:effectRef>
          <a:fontRef idx="minor">
            <a:schemeClr val="tx1"/>
          </a:fontRef>
        </p:style>
      </p:cxnSp>
      <p:pic>
        <p:nvPicPr>
          <p:cNvPr id="18" name="Picture 17" descr="harvester_crop.png"/>
          <p:cNvPicPr>
            <a:picLocks noChangeAspect="1"/>
          </p:cNvPicPr>
          <p:nvPr/>
        </p:nvPicPr>
        <p:blipFill>
          <a:blip r:embed="rId5"/>
          <a:srcRect t="17335" b="17335"/>
          <a:stretch>
            <a:fillRect/>
          </a:stretch>
        </p:blipFill>
        <p:spPr>
          <a:xfrm>
            <a:off x="9784080" y="2322576"/>
            <a:ext cx="4297680" cy="1627632"/>
          </a:xfrm>
          <a:prstGeom prst="rect">
            <a:avLst/>
          </a:prstGeom>
        </p:spPr>
      </p:pic>
      <p:sp>
        <p:nvSpPr>
          <p:cNvPr id="19" name="TextBox 18"/>
          <p:cNvSpPr txBox="1"/>
          <p:nvPr/>
        </p:nvSpPr>
        <p:spPr>
          <a:xfrm>
            <a:off x="9784080" y="4023360"/>
            <a:ext cx="4389120" cy="576072"/>
          </a:xfrm>
          <a:prstGeom prst="rect">
            <a:avLst/>
          </a:prstGeom>
          <a:noFill/>
        </p:spPr>
        <p:txBody>
          <a:bodyPr wrap="square" lIns="0" tIns="0" rIns="0" bIns="0" anchor="t">
            <a:noAutofit/>
          </a:bodyPr>
          <a:lstStyle/>
          <a:p>
            <a:pPr algn="l">
              <a:lnSpc>
                <a:spcPct val="100000"/>
              </a:lnSpc>
              <a:spcBef>
                <a:spcPts val="0"/>
              </a:spcBef>
              <a:spcAft>
                <a:spcPts val="0"/>
              </a:spcAft>
            </a:pPr>
            <a:r>
              <a:rPr sz="1550" b="0">
                <a:solidFill>
                  <a:srgbClr val="F0E9DA"/>
                </a:solidFill>
                <a:latin typeface="Arial"/>
              </a:rPr>
              <a:t>Four crawlers, wheels/pads, cutter drum,</a:t>
            </a:r>
          </a:p>
          <a:p>
            <a:pPr algn="l">
              <a:lnSpc>
                <a:spcPct val="100000"/>
              </a:lnSpc>
              <a:spcBef>
                <a:spcPts val="0"/>
              </a:spcBef>
              <a:spcAft>
                <a:spcPts val="0"/>
              </a:spcAft>
            </a:pPr>
            <a:r>
              <a:rPr sz="1550" b="0">
                <a:solidFill>
                  <a:srgbClr val="F0E9DA"/>
                </a:solidFill>
                <a:latin typeface="Arial"/>
              </a:rPr>
              <a:t>exit/ramp, separators, bridge, stacks and lamps.</a:t>
            </a:r>
          </a:p>
        </p:txBody>
      </p:sp>
      <p:sp>
        <p:nvSpPr>
          <p:cNvPr id="20" name="TextBox 19"/>
          <p:cNvSpPr txBox="1"/>
          <p:nvPr/>
        </p:nvSpPr>
        <p:spPr>
          <a:xfrm>
            <a:off x="548640" y="4681728"/>
            <a:ext cx="4297680" cy="274320"/>
          </a:xfrm>
          <a:prstGeom prst="rect">
            <a:avLst/>
          </a:prstGeom>
          <a:noFill/>
        </p:spPr>
        <p:txBody>
          <a:bodyPr wrap="square" lIns="0" tIns="0" rIns="0" bIns="0" anchor="t">
            <a:noAutofit/>
          </a:bodyPr>
          <a:lstStyle/>
          <a:p>
            <a:pPr algn="l">
              <a:lnSpc>
                <a:spcPct val="100000"/>
              </a:lnSpc>
              <a:spcBef>
                <a:spcPts val="0"/>
              </a:spcBef>
              <a:spcAft>
                <a:spcPts val="0"/>
              </a:spcAft>
            </a:pPr>
            <a:r>
              <a:rPr sz="1700" b="1">
                <a:solidFill>
                  <a:srgbClr val="D5A45E"/>
                </a:solidFill>
                <a:latin typeface="Arial"/>
              </a:rPr>
              <a:t>04 / THREE SPICE TANKS</a:t>
            </a:r>
          </a:p>
        </p:txBody>
      </p:sp>
      <p:cxnSp>
        <p:nvCxnSpPr>
          <p:cNvPr id="21" name="Connector 20"/>
          <p:cNvCxnSpPr/>
          <p:nvPr/>
        </p:nvCxnSpPr>
        <p:spPr>
          <a:xfrm>
            <a:off x="548640" y="4992624"/>
            <a:ext cx="4297680" cy="0"/>
          </a:xfrm>
          <a:prstGeom prst="line">
            <a:avLst/>
          </a:prstGeom>
          <a:ln w="8890">
            <a:solidFill>
              <a:srgbClr val="42545B"/>
            </a:solidFill>
          </a:ln>
        </p:spPr>
        <p:style>
          <a:lnRef idx="2">
            <a:schemeClr val="accent1"/>
          </a:lnRef>
          <a:fillRef idx="0">
            <a:schemeClr val="accent1"/>
          </a:fillRef>
          <a:effectRef idx="1">
            <a:schemeClr val="accent1"/>
          </a:effectRef>
          <a:fontRef idx="minor">
            <a:schemeClr val="tx1"/>
          </a:fontRef>
        </p:style>
      </p:cxnSp>
      <p:pic>
        <p:nvPicPr>
          <p:cNvPr id="22" name="Picture 21" descr="tank_crop.png"/>
          <p:cNvPicPr>
            <a:picLocks noChangeAspect="1"/>
          </p:cNvPicPr>
          <p:nvPr/>
        </p:nvPicPr>
        <p:blipFill>
          <a:blip r:embed="rId6"/>
          <a:srcRect t="22497" b="22497"/>
          <a:stretch>
            <a:fillRect/>
          </a:stretch>
        </p:blipFill>
        <p:spPr>
          <a:xfrm>
            <a:off x="548640" y="5093208"/>
            <a:ext cx="4297680" cy="1627632"/>
          </a:xfrm>
          <a:prstGeom prst="rect">
            <a:avLst/>
          </a:prstGeom>
        </p:spPr>
      </p:pic>
      <p:sp>
        <p:nvSpPr>
          <p:cNvPr id="23" name="TextBox 22"/>
          <p:cNvSpPr txBox="1"/>
          <p:nvPr/>
        </p:nvSpPr>
        <p:spPr>
          <a:xfrm>
            <a:off x="548640" y="6793992"/>
            <a:ext cx="4389120" cy="576072"/>
          </a:xfrm>
          <a:prstGeom prst="rect">
            <a:avLst/>
          </a:prstGeom>
          <a:noFill/>
        </p:spPr>
        <p:txBody>
          <a:bodyPr wrap="square" lIns="0" tIns="0" rIns="0" bIns="0" anchor="t">
            <a:noAutofit/>
          </a:bodyPr>
          <a:lstStyle/>
          <a:p>
            <a:pPr algn="l">
              <a:lnSpc>
                <a:spcPct val="100000"/>
              </a:lnSpc>
              <a:spcBef>
                <a:spcPts val="0"/>
              </a:spcBef>
              <a:spcAft>
                <a:spcPts val="0"/>
              </a:spcAft>
            </a:pPr>
            <a:r>
              <a:rPr sz="1550" b="0">
                <a:solidFill>
                  <a:srgbClr val="F0E9DA"/>
                </a:solidFill>
                <a:latin typeface="Arial"/>
              </a:rPr>
              <a:t>Cradle/skids, cylinder vessel, domed ends,</a:t>
            </a:r>
          </a:p>
          <a:p>
            <a:pPr algn="l">
              <a:lnSpc>
                <a:spcPct val="100000"/>
              </a:lnSpc>
              <a:spcBef>
                <a:spcPts val="0"/>
              </a:spcBef>
              <a:spcAft>
                <a:spcPts val="0"/>
              </a:spcAft>
            </a:pPr>
            <a:r>
              <a:rPr sz="1550" b="0">
                <a:solidFill>
                  <a:srgbClr val="F0E9DA"/>
                </a:solidFill>
                <a:latin typeface="Arial"/>
              </a:rPr>
              <a:t>bands, hatch/valve and emissive indicator.</a:t>
            </a:r>
          </a:p>
        </p:txBody>
      </p:sp>
      <p:sp>
        <p:nvSpPr>
          <p:cNvPr id="24" name="TextBox 23"/>
          <p:cNvSpPr txBox="1"/>
          <p:nvPr/>
        </p:nvSpPr>
        <p:spPr>
          <a:xfrm>
            <a:off x="5166360" y="4681728"/>
            <a:ext cx="4297680" cy="274320"/>
          </a:xfrm>
          <a:prstGeom prst="rect">
            <a:avLst/>
          </a:prstGeom>
          <a:noFill/>
        </p:spPr>
        <p:txBody>
          <a:bodyPr wrap="square" lIns="0" tIns="0" rIns="0" bIns="0" anchor="t">
            <a:noAutofit/>
          </a:bodyPr>
          <a:lstStyle/>
          <a:p>
            <a:pPr algn="l">
              <a:lnSpc>
                <a:spcPct val="100000"/>
              </a:lnSpc>
              <a:spcBef>
                <a:spcPts val="0"/>
              </a:spcBef>
              <a:spcAft>
                <a:spcPts val="0"/>
              </a:spcAft>
            </a:pPr>
            <a:r>
              <a:rPr sz="1700" b="1">
                <a:solidFill>
                  <a:srgbClr val="D5A45E"/>
                </a:solidFill>
                <a:latin typeface="Arial"/>
              </a:rPr>
              <a:t>05 / ROCK FORMATIONS</a:t>
            </a:r>
          </a:p>
        </p:txBody>
      </p:sp>
      <p:cxnSp>
        <p:nvCxnSpPr>
          <p:cNvPr id="25" name="Connector 24"/>
          <p:cNvCxnSpPr/>
          <p:nvPr/>
        </p:nvCxnSpPr>
        <p:spPr>
          <a:xfrm>
            <a:off x="5166360" y="4992624"/>
            <a:ext cx="4297680" cy="0"/>
          </a:xfrm>
          <a:prstGeom prst="line">
            <a:avLst/>
          </a:prstGeom>
          <a:ln w="8890">
            <a:solidFill>
              <a:srgbClr val="42545B"/>
            </a:solidFill>
          </a:ln>
        </p:spPr>
        <p:style>
          <a:lnRef idx="2">
            <a:schemeClr val="accent1"/>
          </a:lnRef>
          <a:fillRef idx="0">
            <a:schemeClr val="accent1"/>
          </a:fillRef>
          <a:effectRef idx="1">
            <a:schemeClr val="accent1"/>
          </a:effectRef>
          <a:fontRef idx="minor">
            <a:schemeClr val="tx1"/>
          </a:fontRef>
        </p:style>
      </p:cxnSp>
      <p:pic>
        <p:nvPicPr>
          <p:cNvPr id="26" name="Picture 25" descr="rocks_crop.png"/>
          <p:cNvPicPr>
            <a:picLocks noChangeAspect="1"/>
          </p:cNvPicPr>
          <p:nvPr/>
        </p:nvPicPr>
        <p:blipFill>
          <a:blip r:embed="rId7"/>
          <a:srcRect t="23858" b="23858"/>
          <a:stretch>
            <a:fillRect/>
          </a:stretch>
        </p:blipFill>
        <p:spPr>
          <a:xfrm>
            <a:off x="5166360" y="5093208"/>
            <a:ext cx="4297680" cy="1627632"/>
          </a:xfrm>
          <a:prstGeom prst="rect">
            <a:avLst/>
          </a:prstGeom>
        </p:spPr>
      </p:pic>
      <p:sp>
        <p:nvSpPr>
          <p:cNvPr id="27" name="TextBox 26"/>
          <p:cNvSpPr txBox="1"/>
          <p:nvPr/>
        </p:nvSpPr>
        <p:spPr>
          <a:xfrm>
            <a:off x="5166360" y="6793992"/>
            <a:ext cx="4389120" cy="576072"/>
          </a:xfrm>
          <a:prstGeom prst="rect">
            <a:avLst/>
          </a:prstGeom>
          <a:noFill/>
        </p:spPr>
        <p:txBody>
          <a:bodyPr wrap="square" lIns="0" tIns="0" rIns="0" bIns="0" anchor="t">
            <a:noAutofit/>
          </a:bodyPr>
          <a:lstStyle/>
          <a:p>
            <a:pPr algn="l">
              <a:lnSpc>
                <a:spcPct val="100000"/>
              </a:lnSpc>
              <a:spcBef>
                <a:spcPts val="0"/>
              </a:spcBef>
              <a:spcAft>
                <a:spcPts val="0"/>
              </a:spcAft>
            </a:pPr>
            <a:r>
              <a:rPr sz="1550" b="0">
                <a:solidFill>
                  <a:srgbClr val="F0E9DA"/>
                </a:solidFill>
                <a:latin typeface="Arial"/>
              </a:rPr>
              <a:t>Eight sites x four pieces: irregular facets,</a:t>
            </a:r>
          </a:p>
          <a:p>
            <a:pPr algn="l">
              <a:lnSpc>
                <a:spcPct val="100000"/>
              </a:lnSpc>
              <a:spcBef>
                <a:spcPts val="0"/>
              </a:spcBef>
              <a:spcAft>
                <a:spcPts val="0"/>
              </a:spcAft>
            </a:pPr>
            <a:r>
              <a:rPr sz="1550" b="0">
                <a:solidFill>
                  <a:srgbClr val="F0E9DA"/>
                </a:solidFill>
                <a:latin typeface="Arial"/>
              </a:rPr>
              <a:t>different scales, strata and procedural grain.</a:t>
            </a:r>
          </a:p>
        </p:txBody>
      </p:sp>
      <p:sp>
        <p:nvSpPr>
          <p:cNvPr id="28" name="TextBox 27"/>
          <p:cNvSpPr txBox="1"/>
          <p:nvPr/>
        </p:nvSpPr>
        <p:spPr>
          <a:xfrm>
            <a:off x="9784080" y="4681728"/>
            <a:ext cx="4297680" cy="274320"/>
          </a:xfrm>
          <a:prstGeom prst="rect">
            <a:avLst/>
          </a:prstGeom>
          <a:noFill/>
        </p:spPr>
        <p:txBody>
          <a:bodyPr wrap="square" lIns="0" tIns="0" rIns="0" bIns="0" anchor="t">
            <a:noAutofit/>
          </a:bodyPr>
          <a:lstStyle/>
          <a:p>
            <a:pPr algn="l">
              <a:lnSpc>
                <a:spcPct val="100000"/>
              </a:lnSpc>
              <a:spcBef>
                <a:spcPts val="0"/>
              </a:spcBef>
              <a:spcAft>
                <a:spcPts val="0"/>
              </a:spcAft>
            </a:pPr>
            <a:r>
              <a:rPr sz="1700" b="1">
                <a:solidFill>
                  <a:srgbClr val="D5A45E"/>
                </a:solidFill>
                <a:latin typeface="Arial"/>
              </a:rPr>
              <a:t>HOW THEY ARE ASSEMBLED</a:t>
            </a:r>
          </a:p>
        </p:txBody>
      </p:sp>
      <p:cxnSp>
        <p:nvCxnSpPr>
          <p:cNvPr id="29" name="Connector 28"/>
          <p:cNvCxnSpPr/>
          <p:nvPr/>
        </p:nvCxnSpPr>
        <p:spPr>
          <a:xfrm>
            <a:off x="9784080" y="4992624"/>
            <a:ext cx="4297680" cy="0"/>
          </a:xfrm>
          <a:prstGeom prst="line">
            <a:avLst/>
          </a:prstGeom>
          <a:ln w="8890">
            <a:solidFill>
              <a:srgbClr val="42545B"/>
            </a:solidFill>
          </a:ln>
        </p:spPr>
        <p:style>
          <a:lnRef idx="2">
            <a:schemeClr val="accent1"/>
          </a:lnRef>
          <a:fillRef idx="0">
            <a:schemeClr val="accent1"/>
          </a:fillRef>
          <a:effectRef idx="1">
            <a:schemeClr val="accent1"/>
          </a:effectRef>
          <a:fontRef idx="minor">
            <a:schemeClr val="tx1"/>
          </a:fontRef>
        </p:style>
      </p:cxnSp>
      <p:pic>
        <p:nvPicPr>
          <p:cNvPr id="30" name="Picture 29" descr="aircraft_wire_crop.png"/>
          <p:cNvPicPr>
            <a:picLocks noChangeAspect="1"/>
          </p:cNvPicPr>
          <p:nvPr/>
        </p:nvPicPr>
        <p:blipFill>
          <a:blip r:embed="rId8"/>
          <a:srcRect t="14323" b="14323"/>
          <a:stretch>
            <a:fillRect/>
          </a:stretch>
        </p:blipFill>
        <p:spPr>
          <a:xfrm>
            <a:off x="9784080" y="5093208"/>
            <a:ext cx="4297680" cy="1627632"/>
          </a:xfrm>
          <a:prstGeom prst="rect">
            <a:avLst/>
          </a:prstGeom>
        </p:spPr>
      </p:pic>
      <p:sp>
        <p:nvSpPr>
          <p:cNvPr id="31" name="TextBox 30"/>
          <p:cNvSpPr txBox="1"/>
          <p:nvPr/>
        </p:nvSpPr>
        <p:spPr>
          <a:xfrm>
            <a:off x="9784080" y="6793992"/>
            <a:ext cx="4389120" cy="576072"/>
          </a:xfrm>
          <a:prstGeom prst="rect">
            <a:avLst/>
          </a:prstGeom>
          <a:noFill/>
        </p:spPr>
        <p:txBody>
          <a:bodyPr wrap="square" lIns="0" tIns="0" rIns="0" bIns="0" anchor="t">
            <a:noAutofit/>
          </a:bodyPr>
          <a:lstStyle/>
          <a:p>
            <a:pPr algn="l">
              <a:lnSpc>
                <a:spcPct val="100000"/>
              </a:lnSpc>
              <a:spcBef>
                <a:spcPts val="0"/>
              </a:spcBef>
              <a:spcAft>
                <a:spcPts val="0"/>
              </a:spcAft>
            </a:pPr>
            <a:r>
              <a:rPr sz="1550" b="0">
                <a:solidFill>
                  <a:srgbClr val="F0E9DA"/>
                </a:solidFill>
                <a:latin typeface="Arial"/>
              </a:rPr>
              <a:t>Cube + cylinder + ellipsoid + wing mesh.</a:t>
            </a:r>
          </a:p>
          <a:p>
            <a:pPr algn="l">
              <a:lnSpc>
                <a:spcPct val="100000"/>
              </a:lnSpc>
              <a:spcBef>
                <a:spcPts val="0"/>
              </a:spcBef>
              <a:spcAft>
                <a:spcPts val="0"/>
              </a:spcAft>
            </a:pPr>
            <a:r>
              <a:rPr sz="1550" b="0">
                <a:solidFill>
                  <a:srgbClr val="F0E9DA"/>
                </a:solidFill>
                <a:latin typeface="Arial"/>
              </a:rPr>
              <a:t>Parent/local transforms reuse GPU geometry.</a:t>
            </a:r>
          </a:p>
        </p:txBody>
      </p:sp>
      <p:sp>
        <p:nvSpPr>
          <p:cNvPr id="32" name="TextBox 31"/>
          <p:cNvSpPr txBox="1"/>
          <p:nvPr/>
        </p:nvSpPr>
        <p:spPr>
          <a:xfrm>
            <a:off x="548640" y="7543800"/>
            <a:ext cx="13350240" cy="210312"/>
          </a:xfrm>
          <a:prstGeom prst="rect">
            <a:avLst/>
          </a:prstGeom>
          <a:noFill/>
        </p:spPr>
        <p:txBody>
          <a:bodyPr wrap="square" lIns="0" tIns="0" rIns="0" bIns="0" anchor="t">
            <a:noAutofit/>
          </a:bodyPr>
          <a:lstStyle/>
          <a:p>
            <a:pPr algn="l">
              <a:lnSpc>
                <a:spcPct val="100000"/>
              </a:lnSpc>
              <a:spcBef>
                <a:spcPts val="0"/>
              </a:spcBef>
              <a:spcAft>
                <a:spcPts val="0"/>
              </a:spcAft>
            </a:pPr>
            <a:r>
              <a:rPr sz="1100" b="0">
                <a:solidFill>
                  <a:srgbClr val="ACB9BA"/>
                </a:solidFill>
                <a:latin typeface="Arial"/>
              </a:rPr>
              <a:t>Inspection close-ups reuse actual project draw routines. Terrain is a scene capture. No imported models or image textures.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181E"/>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252728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1">
                <a:solidFill>
                  <a:srgbClr val="D5A45E"/>
                </a:solidFill>
                <a:latin typeface="Arial"/>
              </a:rPr>
              <a:t>OBJECTS / 2 OF 2</a:t>
            </a:r>
          </a:p>
        </p:txBody>
      </p:sp>
      <p:sp>
        <p:nvSpPr>
          <p:cNvPr id="3" name="TextBox 2"/>
          <p:cNvSpPr txBox="1"/>
          <p:nvPr/>
        </p:nvSpPr>
        <p:spPr>
          <a:xfrm>
            <a:off x="548640" y="694944"/>
            <a:ext cx="13350240" cy="594360"/>
          </a:xfrm>
          <a:prstGeom prst="rect">
            <a:avLst/>
          </a:prstGeom>
          <a:noFill/>
        </p:spPr>
        <p:txBody>
          <a:bodyPr wrap="square" lIns="0" tIns="0" rIns="0" bIns="0" anchor="t">
            <a:noAutofit/>
          </a:bodyPr>
          <a:lstStyle/>
          <a:p>
            <a:pPr algn="l">
              <a:lnSpc>
                <a:spcPct val="100000"/>
              </a:lnSpc>
              <a:spcBef>
                <a:spcPts val="0"/>
              </a:spcBef>
              <a:spcAft>
                <a:spcPts val="0"/>
              </a:spcAft>
            </a:pPr>
            <a:r>
              <a:rPr sz="3600" b="1">
                <a:solidFill>
                  <a:srgbClr val="F0E9DA"/>
                </a:solidFill>
                <a:latin typeface="Bahnschrift"/>
              </a:rPr>
              <a:t>Objects II / Rescue and sandworm</a:t>
            </a:r>
          </a:p>
        </p:txBody>
      </p:sp>
      <p:sp>
        <p:nvSpPr>
          <p:cNvPr id="4" name="TextBox 3"/>
          <p:cNvSpPr txBox="1"/>
          <p:nvPr/>
        </p:nvSpPr>
        <p:spPr>
          <a:xfrm>
            <a:off x="566928" y="1316736"/>
            <a:ext cx="13441680" cy="329184"/>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ACB9BA"/>
                </a:solidFill>
                <a:latin typeface="Arial"/>
              </a:rPr>
              <a:t>The mission uses visible people, colour-coded markers, a winch line, and a genuinely recessed worm mouth.</a:t>
            </a:r>
          </a:p>
        </p:txBody>
      </p:sp>
      <p:cxnSp>
        <p:nvCxnSpPr>
          <p:cNvPr id="5" name="Connector 4"/>
          <p:cNvCxnSpPr/>
          <p:nvPr/>
        </p:nvCxnSpPr>
        <p:spPr>
          <a:xfrm>
            <a:off x="548640" y="7772400"/>
            <a:ext cx="13533120" cy="0"/>
          </a:xfrm>
          <a:prstGeom prst="line">
            <a:avLst/>
          </a:prstGeom>
          <a:ln w="12700">
            <a:solidFill>
              <a:srgbClr val="42545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7900416"/>
            <a:ext cx="11338560" cy="219456"/>
          </a:xfrm>
          <a:prstGeom prst="rect">
            <a:avLst/>
          </a:prstGeom>
          <a:noFill/>
        </p:spPr>
        <p:txBody>
          <a:bodyPr wrap="square" lIns="0" tIns="0" rIns="0" bIns="0" anchor="t">
            <a:noAutofit/>
          </a:bodyPr>
          <a:lstStyle/>
          <a:p>
            <a:pPr algn="l">
              <a:lnSpc>
                <a:spcPct val="100000"/>
              </a:lnSpc>
              <a:spcBef>
                <a:spcPts val="0"/>
              </a:spcBef>
              <a:spcAft>
                <a:spcPts val="0"/>
              </a:spcAft>
            </a:pPr>
            <a:r>
              <a:rPr sz="1000" b="0">
                <a:solidFill>
                  <a:srgbClr val="ACB9BA"/>
                </a:solidFill>
                <a:latin typeface="Arial"/>
              </a:rPr>
              <a:t>ARRAKIS / HARVESTER DOWN     |     ASIQUE EHETASAMUL HAQUE     |     CSE 4102</a:t>
            </a:r>
          </a:p>
        </p:txBody>
      </p:sp>
      <p:sp>
        <p:nvSpPr>
          <p:cNvPr id="7" name="TextBox 6"/>
          <p:cNvSpPr txBox="1"/>
          <p:nvPr/>
        </p:nvSpPr>
        <p:spPr>
          <a:xfrm>
            <a:off x="13167360" y="7863840"/>
            <a:ext cx="914400" cy="274320"/>
          </a:xfrm>
          <a:prstGeom prst="rect">
            <a:avLst/>
          </a:prstGeom>
          <a:noFill/>
        </p:spPr>
        <p:txBody>
          <a:bodyPr wrap="square" lIns="0" tIns="0" rIns="0" bIns="0" anchor="t">
            <a:noAutofit/>
          </a:bodyPr>
          <a:lstStyle/>
          <a:p>
            <a:pPr algn="r">
              <a:lnSpc>
                <a:spcPct val="100000"/>
              </a:lnSpc>
              <a:spcBef>
                <a:spcPts val="0"/>
              </a:spcBef>
              <a:spcAft>
                <a:spcPts val="0"/>
              </a:spcAft>
            </a:pPr>
            <a:r>
              <a:rPr sz="1300" b="1">
                <a:solidFill>
                  <a:srgbClr val="D5A45E"/>
                </a:solidFill>
                <a:latin typeface="Arial"/>
              </a:rPr>
              <a:t>04 / 10</a:t>
            </a:r>
          </a:p>
        </p:txBody>
      </p:sp>
      <p:pic>
        <p:nvPicPr>
          <p:cNvPr id="8" name="Picture 7" descr="mouth.png"/>
          <p:cNvPicPr>
            <a:picLocks noChangeAspect="1"/>
          </p:cNvPicPr>
          <p:nvPr/>
        </p:nvPicPr>
        <p:blipFill>
          <a:blip r:embed="rId3"/>
          <a:srcRect t="81" b="81"/>
          <a:stretch>
            <a:fillRect/>
          </a:stretch>
        </p:blipFill>
        <p:spPr>
          <a:xfrm>
            <a:off x="548640" y="1901952"/>
            <a:ext cx="6903720" cy="3877056"/>
          </a:xfrm>
          <a:prstGeom prst="rect">
            <a:avLst/>
          </a:prstGeom>
        </p:spPr>
      </p:pic>
      <p:sp>
        <p:nvSpPr>
          <p:cNvPr id="9" name="TextBox 8"/>
          <p:cNvSpPr txBox="1"/>
          <p:nvPr/>
        </p:nvSpPr>
        <p:spPr>
          <a:xfrm>
            <a:off x="731520" y="5916168"/>
            <a:ext cx="6629400" cy="749808"/>
          </a:xfrm>
          <a:prstGeom prst="rect">
            <a:avLst/>
          </a:prstGeom>
          <a:noFill/>
        </p:spPr>
        <p:txBody>
          <a:bodyPr wrap="square" lIns="0" tIns="0" rIns="0" bIns="0" anchor="t">
            <a:noAutofit/>
          </a:bodyPr>
          <a:lstStyle/>
          <a:p>
            <a:pPr algn="l">
              <a:lnSpc>
                <a:spcPct val="100000"/>
              </a:lnSpc>
              <a:spcBef>
                <a:spcPts val="0"/>
              </a:spcBef>
              <a:spcAft>
                <a:spcPts val="0"/>
              </a:spcAft>
            </a:pPr>
            <a:r>
              <a:rPr sz="2300" b="1" dirty="0">
                <a:solidFill>
                  <a:srgbClr val="F0E9DA"/>
                </a:solidFill>
                <a:latin typeface="Arial"/>
              </a:rPr>
              <a:t>A modeled cavity, not a black disc.</a:t>
            </a:r>
          </a:p>
          <a:p>
            <a:pPr algn="l">
              <a:lnSpc>
                <a:spcPct val="100000"/>
              </a:lnSpc>
              <a:spcBef>
                <a:spcPts val="0"/>
              </a:spcBef>
              <a:spcAft>
                <a:spcPts val="0"/>
              </a:spcAft>
            </a:pPr>
            <a:r>
              <a:rPr sz="2300" b="1" dirty="0">
                <a:solidFill>
                  <a:srgbClr val="F0E9DA"/>
                </a:solidFill>
                <a:latin typeface="Arial"/>
              </a:rPr>
              <a:t>Body + lip + funnel + throat + teeth</a:t>
            </a:r>
          </a:p>
        </p:txBody>
      </p:sp>
      <p:sp>
        <p:nvSpPr>
          <p:cNvPr id="10" name="TextBox 9"/>
          <p:cNvSpPr txBox="1"/>
          <p:nvPr/>
        </p:nvSpPr>
        <p:spPr>
          <a:xfrm>
            <a:off x="731520" y="6702552"/>
            <a:ext cx="6766560" cy="438912"/>
          </a:xfrm>
          <a:prstGeom prst="rect">
            <a:avLst/>
          </a:prstGeom>
          <a:noFill/>
        </p:spPr>
        <p:txBody>
          <a:bodyPr wrap="square" lIns="0" tIns="0" rIns="0" bIns="0" anchor="t">
            <a:noAutofit/>
          </a:bodyPr>
          <a:lstStyle/>
          <a:p>
            <a:pPr algn="l">
              <a:lnSpc>
                <a:spcPct val="100000"/>
              </a:lnSpc>
              <a:spcBef>
                <a:spcPts val="0"/>
              </a:spcBef>
              <a:spcAft>
                <a:spcPts val="0"/>
              </a:spcAft>
            </a:pPr>
            <a:r>
              <a:rPr sz="1700" b="0">
                <a:solidFill>
                  <a:srgbClr val="D5A45E"/>
                </a:solidFill>
                <a:latin typeface="Arial"/>
              </a:rPr>
              <a:t>5 meshes  |  1,000 curved teeth  |  32 body ridge cycles</a:t>
            </a:r>
          </a:p>
        </p:txBody>
      </p:sp>
      <p:sp>
        <p:nvSpPr>
          <p:cNvPr id="11" name="TextBox 10"/>
          <p:cNvSpPr txBox="1"/>
          <p:nvPr/>
        </p:nvSpPr>
        <p:spPr>
          <a:xfrm>
            <a:off x="7772400" y="1901952"/>
            <a:ext cx="2971800" cy="256032"/>
          </a:xfrm>
          <a:prstGeom prst="rect">
            <a:avLst/>
          </a:prstGeom>
          <a:noFill/>
        </p:spPr>
        <p:txBody>
          <a:bodyPr wrap="square" lIns="0" tIns="0" rIns="0" bIns="0" anchor="t">
            <a:noAutofit/>
          </a:bodyPr>
          <a:lstStyle/>
          <a:p>
            <a:pPr algn="l">
              <a:lnSpc>
                <a:spcPct val="100000"/>
              </a:lnSpc>
              <a:spcBef>
                <a:spcPts val="0"/>
              </a:spcBef>
              <a:spcAft>
                <a:spcPts val="0"/>
              </a:spcAft>
            </a:pPr>
            <a:r>
              <a:rPr sz="1700" b="1">
                <a:solidFill>
                  <a:srgbClr val="58CFD1"/>
                </a:solidFill>
                <a:latin typeface="Arial"/>
              </a:rPr>
              <a:t>WORKER</a:t>
            </a:r>
          </a:p>
        </p:txBody>
      </p:sp>
      <p:pic>
        <p:nvPicPr>
          <p:cNvPr id="12" name="Picture 11" descr="worker_crop.png"/>
          <p:cNvPicPr>
            <a:picLocks noChangeAspect="1"/>
          </p:cNvPicPr>
          <p:nvPr/>
        </p:nvPicPr>
        <p:blipFill>
          <a:blip r:embed="rId4"/>
          <a:srcRect t="28104" b="28104"/>
          <a:stretch>
            <a:fillRect/>
          </a:stretch>
        </p:blipFill>
        <p:spPr>
          <a:xfrm>
            <a:off x="7772400" y="2240280"/>
            <a:ext cx="2971800" cy="1645920"/>
          </a:xfrm>
          <a:prstGeom prst="rect">
            <a:avLst/>
          </a:prstGeom>
        </p:spPr>
      </p:pic>
      <p:sp>
        <p:nvSpPr>
          <p:cNvPr id="13" name="TextBox 12"/>
          <p:cNvSpPr txBox="1"/>
          <p:nvPr/>
        </p:nvSpPr>
        <p:spPr>
          <a:xfrm>
            <a:off x="7772400" y="3959352"/>
            <a:ext cx="2980944" cy="411480"/>
          </a:xfrm>
          <a:prstGeom prst="rect">
            <a:avLst/>
          </a:prstGeom>
          <a:noFill/>
        </p:spPr>
        <p:txBody>
          <a:bodyPr wrap="square" lIns="0" tIns="0" rIns="0" bIns="0" anchor="t">
            <a:noAutofit/>
          </a:bodyPr>
          <a:lstStyle/>
          <a:p>
            <a:pPr algn="l">
              <a:lnSpc>
                <a:spcPct val="100000"/>
              </a:lnSpc>
              <a:spcBef>
                <a:spcPts val="0"/>
              </a:spcBef>
              <a:spcAft>
                <a:spcPts val="0"/>
              </a:spcAft>
            </a:pPr>
            <a:r>
              <a:rPr sz="1500" b="0">
                <a:solidFill>
                  <a:srgbClr val="F0E9DA"/>
                </a:solidFill>
                <a:latin typeface="Arial"/>
              </a:rPr>
              <a:t>Torso, helmet/visor, limbs, locator</a:t>
            </a:r>
          </a:p>
        </p:txBody>
      </p:sp>
      <p:sp>
        <p:nvSpPr>
          <p:cNvPr id="14" name="TextBox 13"/>
          <p:cNvSpPr txBox="1"/>
          <p:nvPr/>
        </p:nvSpPr>
        <p:spPr>
          <a:xfrm>
            <a:off x="10927080" y="1901952"/>
            <a:ext cx="2971800" cy="256032"/>
          </a:xfrm>
          <a:prstGeom prst="rect">
            <a:avLst/>
          </a:prstGeom>
          <a:noFill/>
        </p:spPr>
        <p:txBody>
          <a:bodyPr wrap="square" lIns="0" tIns="0" rIns="0" bIns="0" anchor="t">
            <a:noAutofit/>
          </a:bodyPr>
          <a:lstStyle/>
          <a:p>
            <a:pPr algn="l">
              <a:lnSpc>
                <a:spcPct val="100000"/>
              </a:lnSpc>
              <a:spcBef>
                <a:spcPts val="0"/>
              </a:spcBef>
              <a:spcAft>
                <a:spcPts val="0"/>
              </a:spcAft>
            </a:pPr>
            <a:r>
              <a:rPr sz="1700" b="1">
                <a:solidFill>
                  <a:srgbClr val="58CFD1"/>
                </a:solidFill>
                <a:latin typeface="Arial"/>
              </a:rPr>
              <a:t>SAFE BASE</a:t>
            </a:r>
          </a:p>
        </p:txBody>
      </p:sp>
      <p:pic>
        <p:nvPicPr>
          <p:cNvPr id="15" name="Picture 14" descr="base_crop.png"/>
          <p:cNvPicPr>
            <a:picLocks noChangeAspect="1"/>
          </p:cNvPicPr>
          <p:nvPr/>
        </p:nvPicPr>
        <p:blipFill>
          <a:blip r:embed="rId5"/>
          <a:srcRect t="3333" b="3333"/>
          <a:stretch>
            <a:fillRect/>
          </a:stretch>
        </p:blipFill>
        <p:spPr>
          <a:xfrm>
            <a:off x="10927080" y="2240280"/>
            <a:ext cx="2971800" cy="1645920"/>
          </a:xfrm>
          <a:prstGeom prst="rect">
            <a:avLst/>
          </a:prstGeom>
        </p:spPr>
      </p:pic>
      <p:sp>
        <p:nvSpPr>
          <p:cNvPr id="16" name="TextBox 15"/>
          <p:cNvSpPr txBox="1"/>
          <p:nvPr/>
        </p:nvSpPr>
        <p:spPr>
          <a:xfrm>
            <a:off x="10927080" y="3959352"/>
            <a:ext cx="2980944" cy="411480"/>
          </a:xfrm>
          <a:prstGeom prst="rect">
            <a:avLst/>
          </a:prstGeom>
          <a:noFill/>
        </p:spPr>
        <p:txBody>
          <a:bodyPr wrap="square" lIns="0" tIns="0" rIns="0" bIns="0" anchor="t">
            <a:noAutofit/>
          </a:bodyPr>
          <a:lstStyle/>
          <a:p>
            <a:pPr algn="l">
              <a:lnSpc>
                <a:spcPct val="100000"/>
              </a:lnSpc>
              <a:spcBef>
                <a:spcPts val="0"/>
              </a:spcBef>
              <a:spcAft>
                <a:spcPts val="0"/>
              </a:spcAft>
            </a:pPr>
            <a:r>
              <a:rPr sz="1500" b="0">
                <a:solidFill>
                  <a:srgbClr val="F0E9DA"/>
                </a:solidFill>
                <a:latin typeface="Arial"/>
              </a:rPr>
              <a:t>Pad, cyan ring/cross, four lights</a:t>
            </a:r>
          </a:p>
        </p:txBody>
      </p:sp>
      <p:sp>
        <p:nvSpPr>
          <p:cNvPr id="17" name="TextBox 16"/>
          <p:cNvSpPr txBox="1"/>
          <p:nvPr/>
        </p:nvSpPr>
        <p:spPr>
          <a:xfrm>
            <a:off x="7772400" y="4462272"/>
            <a:ext cx="2971800" cy="256032"/>
          </a:xfrm>
          <a:prstGeom prst="rect">
            <a:avLst/>
          </a:prstGeom>
          <a:noFill/>
        </p:spPr>
        <p:txBody>
          <a:bodyPr wrap="square" lIns="0" tIns="0" rIns="0" bIns="0" anchor="t">
            <a:noAutofit/>
          </a:bodyPr>
          <a:lstStyle/>
          <a:p>
            <a:pPr algn="l">
              <a:lnSpc>
                <a:spcPct val="100000"/>
              </a:lnSpc>
              <a:spcBef>
                <a:spcPts val="0"/>
              </a:spcBef>
              <a:spcAft>
                <a:spcPts val="0"/>
              </a:spcAft>
            </a:pPr>
            <a:r>
              <a:rPr sz="1700" b="1">
                <a:solidFill>
                  <a:srgbClr val="58CFD1"/>
                </a:solidFill>
                <a:latin typeface="Arial"/>
              </a:rPr>
              <a:t>AMBER BEACON</a:t>
            </a:r>
          </a:p>
        </p:txBody>
      </p:sp>
      <p:pic>
        <p:nvPicPr>
          <p:cNvPr id="18" name="Picture 17" descr="beacon_crop.png"/>
          <p:cNvPicPr>
            <a:picLocks noChangeAspect="1"/>
          </p:cNvPicPr>
          <p:nvPr/>
        </p:nvPicPr>
        <p:blipFill>
          <a:blip r:embed="rId6"/>
          <a:srcRect t="12051" b="12051"/>
          <a:stretch>
            <a:fillRect/>
          </a:stretch>
        </p:blipFill>
        <p:spPr>
          <a:xfrm>
            <a:off x="7772400" y="4800600"/>
            <a:ext cx="2971800" cy="1645920"/>
          </a:xfrm>
          <a:prstGeom prst="rect">
            <a:avLst/>
          </a:prstGeom>
        </p:spPr>
      </p:pic>
      <p:sp>
        <p:nvSpPr>
          <p:cNvPr id="19" name="TextBox 18"/>
          <p:cNvSpPr txBox="1"/>
          <p:nvPr/>
        </p:nvSpPr>
        <p:spPr>
          <a:xfrm>
            <a:off x="7772400" y="6519672"/>
            <a:ext cx="2980944" cy="411480"/>
          </a:xfrm>
          <a:prstGeom prst="rect">
            <a:avLst/>
          </a:prstGeom>
          <a:noFill/>
        </p:spPr>
        <p:txBody>
          <a:bodyPr wrap="square" lIns="0" tIns="0" rIns="0" bIns="0" anchor="t">
            <a:noAutofit/>
          </a:bodyPr>
          <a:lstStyle/>
          <a:p>
            <a:pPr algn="l">
              <a:lnSpc>
                <a:spcPct val="100000"/>
              </a:lnSpc>
              <a:spcBef>
                <a:spcPts val="0"/>
              </a:spcBef>
              <a:spcAft>
                <a:spcPts val="0"/>
              </a:spcAft>
            </a:pPr>
            <a:r>
              <a:rPr sz="1500" b="0">
                <a:solidFill>
                  <a:srgbClr val="F0E9DA"/>
                </a:solidFill>
                <a:latin typeface="Arial"/>
              </a:rPr>
              <a:t>Slope-aligned ring, pole and lamp</a:t>
            </a:r>
          </a:p>
        </p:txBody>
      </p:sp>
      <p:sp>
        <p:nvSpPr>
          <p:cNvPr id="20" name="TextBox 19"/>
          <p:cNvSpPr txBox="1"/>
          <p:nvPr/>
        </p:nvSpPr>
        <p:spPr>
          <a:xfrm>
            <a:off x="10927080" y="4462272"/>
            <a:ext cx="2971800" cy="256032"/>
          </a:xfrm>
          <a:prstGeom prst="rect">
            <a:avLst/>
          </a:prstGeom>
          <a:noFill/>
        </p:spPr>
        <p:txBody>
          <a:bodyPr wrap="square" lIns="0" tIns="0" rIns="0" bIns="0" anchor="t">
            <a:noAutofit/>
          </a:bodyPr>
          <a:lstStyle/>
          <a:p>
            <a:pPr algn="l">
              <a:lnSpc>
                <a:spcPct val="100000"/>
              </a:lnSpc>
              <a:spcBef>
                <a:spcPts val="0"/>
              </a:spcBef>
              <a:spcAft>
                <a:spcPts val="0"/>
              </a:spcAft>
            </a:pPr>
            <a:r>
              <a:rPr sz="1700" b="1">
                <a:solidFill>
                  <a:srgbClr val="58CFD1"/>
                </a:solidFill>
                <a:latin typeface="Arial"/>
              </a:rPr>
              <a:t>WINCH + LIFT</a:t>
            </a:r>
          </a:p>
        </p:txBody>
      </p:sp>
      <p:pic>
        <p:nvPicPr>
          <p:cNvPr id="21" name="Picture 20" descr="winch_crop.png"/>
          <p:cNvPicPr>
            <a:picLocks noChangeAspect="1"/>
          </p:cNvPicPr>
          <p:nvPr/>
        </p:nvPicPr>
        <p:blipFill>
          <a:blip r:embed="rId7"/>
          <a:srcRect t="370" b="370"/>
          <a:stretch>
            <a:fillRect/>
          </a:stretch>
        </p:blipFill>
        <p:spPr>
          <a:xfrm>
            <a:off x="10927080" y="4800600"/>
            <a:ext cx="2971800" cy="1645920"/>
          </a:xfrm>
          <a:prstGeom prst="rect">
            <a:avLst/>
          </a:prstGeom>
        </p:spPr>
      </p:pic>
      <p:sp>
        <p:nvSpPr>
          <p:cNvPr id="22" name="TextBox 21"/>
          <p:cNvSpPr txBox="1"/>
          <p:nvPr/>
        </p:nvSpPr>
        <p:spPr>
          <a:xfrm>
            <a:off x="10927080" y="6519672"/>
            <a:ext cx="2980944" cy="411480"/>
          </a:xfrm>
          <a:prstGeom prst="rect">
            <a:avLst/>
          </a:prstGeom>
          <a:noFill/>
        </p:spPr>
        <p:txBody>
          <a:bodyPr wrap="square" lIns="0" tIns="0" rIns="0" bIns="0" anchor="t">
            <a:noAutofit/>
          </a:bodyPr>
          <a:lstStyle/>
          <a:p>
            <a:pPr algn="l">
              <a:lnSpc>
                <a:spcPct val="100000"/>
              </a:lnSpc>
              <a:spcBef>
                <a:spcPts val="0"/>
              </a:spcBef>
              <a:spcAft>
                <a:spcPts val="0"/>
              </a:spcAft>
            </a:pPr>
            <a:r>
              <a:rPr sz="1500" b="0">
                <a:solidFill>
                  <a:srgbClr val="F0E9DA"/>
                </a:solidFill>
                <a:latin typeface="Arial"/>
              </a:rPr>
              <a:t>Cable + progress-based lift</a:t>
            </a:r>
          </a:p>
        </p:txBody>
      </p:sp>
      <p:sp>
        <p:nvSpPr>
          <p:cNvPr id="23" name="Rectangle 22"/>
          <p:cNvSpPr/>
          <p:nvPr/>
        </p:nvSpPr>
        <p:spPr>
          <a:xfrm>
            <a:off x="548640" y="7296912"/>
            <a:ext cx="13533120" cy="365760"/>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48640" y="7296912"/>
            <a:ext cx="36576" cy="365760"/>
          </a:xfrm>
          <a:prstGeom prst="rect">
            <a:avLst/>
          </a:prstGeom>
          <a:solidFill>
            <a:srgbClr val="58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4944" y="7370064"/>
            <a:ext cx="13304520" cy="237744"/>
          </a:xfrm>
          <a:prstGeom prst="rect">
            <a:avLst/>
          </a:prstGeom>
          <a:noFill/>
        </p:spPr>
        <p:txBody>
          <a:bodyPr wrap="square" lIns="0" tIns="0" rIns="0" bIns="0" anchor="t">
            <a:noAutofit/>
          </a:bodyPr>
          <a:lstStyle/>
          <a:p>
            <a:pPr algn="l">
              <a:lnSpc>
                <a:spcPct val="100000"/>
              </a:lnSpc>
              <a:spcBef>
                <a:spcPts val="0"/>
              </a:spcBef>
              <a:spcAft>
                <a:spcPts val="0"/>
              </a:spcAft>
            </a:pPr>
            <a:r>
              <a:rPr sz="1500" b="0">
                <a:solidFill>
                  <a:srgbClr val="58CFD1"/>
                </a:solidFill>
                <a:latin typeface="Arial"/>
              </a:rPr>
              <a:t>AMBER: awaiting rescue   |   CYAN: base / winch   |   WORM WAKE: four sand mounds + disturbed dust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181E"/>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252728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1">
                <a:solidFill>
                  <a:srgbClr val="D5A45E"/>
                </a:solidFill>
                <a:latin typeface="Arial"/>
              </a:rPr>
              <a:t>GEOMETRY AND MATHEMATICAL DESIGN</a:t>
            </a:r>
          </a:p>
        </p:txBody>
      </p:sp>
      <p:sp>
        <p:nvSpPr>
          <p:cNvPr id="3" name="TextBox 2"/>
          <p:cNvSpPr txBox="1"/>
          <p:nvPr/>
        </p:nvSpPr>
        <p:spPr>
          <a:xfrm>
            <a:off x="548640" y="694944"/>
            <a:ext cx="13350240" cy="594360"/>
          </a:xfrm>
          <a:prstGeom prst="rect">
            <a:avLst/>
          </a:prstGeom>
          <a:noFill/>
        </p:spPr>
        <p:txBody>
          <a:bodyPr wrap="square" lIns="0" tIns="0" rIns="0" bIns="0" anchor="t">
            <a:noAutofit/>
          </a:bodyPr>
          <a:lstStyle/>
          <a:p>
            <a:pPr algn="l">
              <a:lnSpc>
                <a:spcPct val="100000"/>
              </a:lnSpc>
              <a:spcBef>
                <a:spcPts val="0"/>
              </a:spcBef>
              <a:spcAft>
                <a:spcPts val="0"/>
              </a:spcAft>
            </a:pPr>
            <a:r>
              <a:rPr sz="3600" b="1">
                <a:solidFill>
                  <a:srgbClr val="F0E9DA"/>
                </a:solidFill>
                <a:latin typeface="Bahnschrift"/>
              </a:rPr>
              <a:t>Curved geometry / The equations behind the objects</a:t>
            </a:r>
          </a:p>
        </p:txBody>
      </p:sp>
      <p:sp>
        <p:nvSpPr>
          <p:cNvPr id="4" name="TextBox 3"/>
          <p:cNvSpPr txBox="1"/>
          <p:nvPr/>
        </p:nvSpPr>
        <p:spPr>
          <a:xfrm>
            <a:off x="566928" y="1316736"/>
            <a:ext cx="13441680" cy="329184"/>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ACB9BA"/>
                </a:solidFill>
                <a:latin typeface="Arial"/>
              </a:rPr>
              <a:t>Parameters control shape; triangles sample the equations; normals control lighting.</a:t>
            </a:r>
          </a:p>
        </p:txBody>
      </p:sp>
      <p:cxnSp>
        <p:nvCxnSpPr>
          <p:cNvPr id="5" name="Connector 4"/>
          <p:cNvCxnSpPr/>
          <p:nvPr/>
        </p:nvCxnSpPr>
        <p:spPr>
          <a:xfrm>
            <a:off x="548640" y="7772400"/>
            <a:ext cx="13533120" cy="0"/>
          </a:xfrm>
          <a:prstGeom prst="line">
            <a:avLst/>
          </a:prstGeom>
          <a:ln w="12700">
            <a:solidFill>
              <a:srgbClr val="42545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7900416"/>
            <a:ext cx="11338560" cy="219456"/>
          </a:xfrm>
          <a:prstGeom prst="rect">
            <a:avLst/>
          </a:prstGeom>
          <a:noFill/>
        </p:spPr>
        <p:txBody>
          <a:bodyPr wrap="square" lIns="0" tIns="0" rIns="0" bIns="0" anchor="t">
            <a:noAutofit/>
          </a:bodyPr>
          <a:lstStyle/>
          <a:p>
            <a:pPr algn="l">
              <a:lnSpc>
                <a:spcPct val="100000"/>
              </a:lnSpc>
              <a:spcBef>
                <a:spcPts val="0"/>
              </a:spcBef>
              <a:spcAft>
                <a:spcPts val="0"/>
              </a:spcAft>
            </a:pPr>
            <a:r>
              <a:rPr sz="1000" b="0">
                <a:solidFill>
                  <a:srgbClr val="ACB9BA"/>
                </a:solidFill>
                <a:latin typeface="Arial"/>
              </a:rPr>
              <a:t>ARRAKIS / HARVESTER DOWN     |     ASIQUE EHETASAMUL HAQUE     |     CSE 4102</a:t>
            </a:r>
          </a:p>
        </p:txBody>
      </p:sp>
      <p:sp>
        <p:nvSpPr>
          <p:cNvPr id="7" name="TextBox 6"/>
          <p:cNvSpPr txBox="1"/>
          <p:nvPr/>
        </p:nvSpPr>
        <p:spPr>
          <a:xfrm>
            <a:off x="13167360" y="7863840"/>
            <a:ext cx="914400" cy="274320"/>
          </a:xfrm>
          <a:prstGeom prst="rect">
            <a:avLst/>
          </a:prstGeom>
          <a:noFill/>
        </p:spPr>
        <p:txBody>
          <a:bodyPr wrap="square" lIns="0" tIns="0" rIns="0" bIns="0" anchor="t">
            <a:noAutofit/>
          </a:bodyPr>
          <a:lstStyle/>
          <a:p>
            <a:pPr algn="r">
              <a:lnSpc>
                <a:spcPct val="100000"/>
              </a:lnSpc>
              <a:spcBef>
                <a:spcPts val="0"/>
              </a:spcBef>
              <a:spcAft>
                <a:spcPts val="0"/>
              </a:spcAft>
            </a:pPr>
            <a:r>
              <a:rPr sz="1300" b="1">
                <a:solidFill>
                  <a:srgbClr val="D5A45E"/>
                </a:solidFill>
                <a:latin typeface="Arial"/>
              </a:rPr>
              <a:t>05 / 10</a:t>
            </a:r>
          </a:p>
        </p:txBody>
      </p:sp>
      <p:cxnSp>
        <p:nvCxnSpPr>
          <p:cNvPr id="8" name="Connector 7"/>
          <p:cNvCxnSpPr/>
          <p:nvPr/>
        </p:nvCxnSpPr>
        <p:spPr>
          <a:xfrm>
            <a:off x="7543800" y="1847088"/>
            <a:ext cx="0" cy="5285232"/>
          </a:xfrm>
          <a:prstGeom prst="line">
            <a:avLst/>
          </a:prstGeom>
          <a:ln w="10160">
            <a:solidFill>
              <a:srgbClr val="42545B"/>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48640" y="4572000"/>
            <a:ext cx="13441680" cy="0"/>
          </a:xfrm>
          <a:prstGeom prst="line">
            <a:avLst/>
          </a:prstGeom>
          <a:ln w="10160">
            <a:solidFill>
              <a:srgbClr val="42545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911095"/>
            <a:ext cx="6720840" cy="338328"/>
          </a:xfrm>
          <a:prstGeom prst="rect">
            <a:avLst/>
          </a:prstGeom>
          <a:noFill/>
        </p:spPr>
        <p:txBody>
          <a:bodyPr wrap="square" lIns="0" tIns="0" rIns="0" bIns="0" anchor="t">
            <a:noAutofit/>
          </a:bodyPr>
          <a:lstStyle/>
          <a:p>
            <a:pPr algn="l">
              <a:lnSpc>
                <a:spcPct val="100000"/>
              </a:lnSpc>
              <a:spcBef>
                <a:spcPts val="0"/>
              </a:spcBef>
              <a:spcAft>
                <a:spcPts val="0"/>
              </a:spcAft>
            </a:pPr>
            <a:r>
              <a:rPr sz="2000" b="1">
                <a:solidFill>
                  <a:srgbClr val="D5A45E"/>
                </a:solidFill>
                <a:latin typeface="Arial"/>
              </a:rPr>
              <a:t>DUNES / a multi-frequency height field</a:t>
            </a:r>
          </a:p>
        </p:txBody>
      </p:sp>
      <p:pic>
        <p:nvPicPr>
          <p:cNvPr id="11" name="Picture 10" descr="eq_terrain1.png"/>
          <p:cNvPicPr>
            <a:picLocks noChangeAspect="1"/>
          </p:cNvPicPr>
          <p:nvPr/>
        </p:nvPicPr>
        <p:blipFill>
          <a:blip r:embed="rId3"/>
          <a:stretch>
            <a:fillRect/>
          </a:stretch>
        </p:blipFill>
        <p:spPr>
          <a:xfrm>
            <a:off x="1007109" y="2377440"/>
            <a:ext cx="5849620" cy="429768"/>
          </a:xfrm>
          <a:prstGeom prst="rect">
            <a:avLst/>
          </a:prstGeom>
        </p:spPr>
      </p:pic>
      <p:pic>
        <p:nvPicPr>
          <p:cNvPr id="12" name="Picture 11" descr="eq_terrain2.png"/>
          <p:cNvPicPr>
            <a:picLocks noChangeAspect="1"/>
          </p:cNvPicPr>
          <p:nvPr/>
        </p:nvPicPr>
        <p:blipFill>
          <a:blip r:embed="rId4"/>
          <a:stretch>
            <a:fillRect/>
          </a:stretch>
        </p:blipFill>
        <p:spPr>
          <a:xfrm>
            <a:off x="594360" y="2900698"/>
            <a:ext cx="6675120" cy="334226"/>
          </a:xfrm>
          <a:prstGeom prst="rect">
            <a:avLst/>
          </a:prstGeom>
        </p:spPr>
      </p:pic>
      <p:pic>
        <p:nvPicPr>
          <p:cNvPr id="13" name="Picture 12" descr="eq_terrain3.png"/>
          <p:cNvPicPr>
            <a:picLocks noChangeAspect="1"/>
          </p:cNvPicPr>
          <p:nvPr/>
        </p:nvPicPr>
        <p:blipFill>
          <a:blip r:embed="rId5"/>
          <a:stretch>
            <a:fillRect/>
          </a:stretch>
        </p:blipFill>
        <p:spPr>
          <a:xfrm>
            <a:off x="1509157" y="3337560"/>
            <a:ext cx="4845524" cy="402335"/>
          </a:xfrm>
          <a:prstGeom prst="rect">
            <a:avLst/>
          </a:prstGeom>
        </p:spPr>
      </p:pic>
      <p:sp>
        <p:nvSpPr>
          <p:cNvPr id="14" name="TextBox 13"/>
          <p:cNvSpPr txBox="1"/>
          <p:nvPr/>
        </p:nvSpPr>
        <p:spPr>
          <a:xfrm>
            <a:off x="594360" y="3886200"/>
            <a:ext cx="6656832" cy="585216"/>
          </a:xfrm>
          <a:prstGeom prst="rect">
            <a:avLst/>
          </a:prstGeom>
          <a:noFill/>
        </p:spPr>
        <p:txBody>
          <a:bodyPr wrap="square" lIns="0" tIns="0" rIns="0" bIns="0" anchor="t">
            <a:noAutofit/>
          </a:bodyPr>
          <a:lstStyle/>
          <a:p>
            <a:pPr algn="l">
              <a:lnSpc>
                <a:spcPct val="100000"/>
              </a:lnSpc>
              <a:spcBef>
                <a:spcPts val="0"/>
              </a:spcBef>
              <a:spcAft>
                <a:spcPts val="0"/>
              </a:spcAft>
            </a:pPr>
            <a:r>
              <a:rPr sz="1700" b="0">
                <a:solidFill>
                  <a:srgbClr val="ACB9BA"/>
                </a:solidFill>
                <a:latin typeface="Arial"/>
              </a:rPr>
              <a:t>Broad dunes + sharper ridges + small undulations.</a:t>
            </a:r>
          </a:p>
          <a:p>
            <a:pPr algn="l">
              <a:lnSpc>
                <a:spcPct val="100000"/>
              </a:lnSpc>
              <a:spcBef>
                <a:spcPts val="0"/>
              </a:spcBef>
              <a:spcAft>
                <a:spcPts val="0"/>
              </a:spcAft>
            </a:pPr>
            <a:r>
              <a:rPr sz="1700" b="0">
                <a:solidFill>
                  <a:srgbClr val="ACB9BA"/>
                </a:solidFill>
                <a:latin typeface="Arial"/>
              </a:rPr>
              <a:t>Base flattening: smooth blend from radius 15 to 25.</a:t>
            </a:r>
          </a:p>
        </p:txBody>
      </p:sp>
      <p:sp>
        <p:nvSpPr>
          <p:cNvPr id="15" name="TextBox 14"/>
          <p:cNvSpPr txBox="1"/>
          <p:nvPr/>
        </p:nvSpPr>
        <p:spPr>
          <a:xfrm>
            <a:off x="7909560" y="1911095"/>
            <a:ext cx="5989320" cy="338328"/>
          </a:xfrm>
          <a:prstGeom prst="rect">
            <a:avLst/>
          </a:prstGeom>
          <a:noFill/>
        </p:spPr>
        <p:txBody>
          <a:bodyPr wrap="square" lIns="0" tIns="0" rIns="0" bIns="0" anchor="t">
            <a:noAutofit/>
          </a:bodyPr>
          <a:lstStyle/>
          <a:p>
            <a:pPr algn="l">
              <a:lnSpc>
                <a:spcPct val="100000"/>
              </a:lnSpc>
              <a:spcBef>
                <a:spcPts val="0"/>
              </a:spcBef>
              <a:spcAft>
                <a:spcPts val="0"/>
              </a:spcAft>
            </a:pPr>
            <a:r>
              <a:rPr sz="2000" b="1">
                <a:solidFill>
                  <a:srgbClr val="58CFD1"/>
                </a:solidFill>
                <a:latin typeface="Arial"/>
              </a:rPr>
              <a:t>ELLIPSOIDS / CYLINDERS / RINGS</a:t>
            </a:r>
          </a:p>
        </p:txBody>
      </p:sp>
      <p:pic>
        <p:nvPicPr>
          <p:cNvPr id="16" name="Picture 15" descr="eq_ellipsoid.png"/>
          <p:cNvPicPr>
            <a:picLocks noChangeAspect="1"/>
          </p:cNvPicPr>
          <p:nvPr/>
        </p:nvPicPr>
        <p:blipFill>
          <a:blip r:embed="rId6"/>
          <a:stretch>
            <a:fillRect/>
          </a:stretch>
        </p:blipFill>
        <p:spPr>
          <a:xfrm>
            <a:off x="9721383" y="2359152"/>
            <a:ext cx="2365672" cy="576072"/>
          </a:xfrm>
          <a:prstGeom prst="rect">
            <a:avLst/>
          </a:prstGeom>
        </p:spPr>
      </p:pic>
      <p:sp>
        <p:nvSpPr>
          <p:cNvPr id="17" name="TextBox 16"/>
          <p:cNvSpPr txBox="1"/>
          <p:nvPr/>
        </p:nvSpPr>
        <p:spPr>
          <a:xfrm>
            <a:off x="8046720" y="2944368"/>
            <a:ext cx="5806440" cy="228600"/>
          </a:xfrm>
          <a:prstGeom prst="rect">
            <a:avLst/>
          </a:prstGeom>
          <a:noFill/>
        </p:spPr>
        <p:txBody>
          <a:bodyPr wrap="square" lIns="0" tIns="0" rIns="0" bIns="0" anchor="t">
            <a:noAutofit/>
          </a:bodyPr>
          <a:lstStyle/>
          <a:p>
            <a:pPr algn="l">
              <a:lnSpc>
                <a:spcPct val="100000"/>
              </a:lnSpc>
              <a:spcBef>
                <a:spcPts val="0"/>
              </a:spcBef>
              <a:spcAft>
                <a:spcPts val="0"/>
              </a:spcAft>
            </a:pPr>
            <a:r>
              <a:rPr sz="1400" b="0">
                <a:solidFill>
                  <a:srgbClr val="ACB9BA"/>
                </a:solidFill>
                <a:latin typeface="Arial"/>
              </a:rPr>
              <a:t>A/B/C: half-axis lengths; cylinder: unit height, radius 0.5.</a:t>
            </a:r>
          </a:p>
        </p:txBody>
      </p:sp>
      <p:pic>
        <p:nvPicPr>
          <p:cNvPr id="18" name="Picture 17" descr="eq_cylinder.png"/>
          <p:cNvPicPr>
            <a:picLocks noChangeAspect="1"/>
          </p:cNvPicPr>
          <p:nvPr/>
        </p:nvPicPr>
        <p:blipFill>
          <a:blip r:embed="rId7"/>
          <a:stretch>
            <a:fillRect/>
          </a:stretch>
        </p:blipFill>
        <p:spPr>
          <a:xfrm>
            <a:off x="9077040" y="3200400"/>
            <a:ext cx="3654359" cy="329184"/>
          </a:xfrm>
          <a:prstGeom prst="rect">
            <a:avLst/>
          </a:prstGeom>
        </p:spPr>
      </p:pic>
      <p:pic>
        <p:nvPicPr>
          <p:cNvPr id="19" name="Picture 18" descr="eq_torus.png"/>
          <p:cNvPicPr>
            <a:picLocks noChangeAspect="1"/>
          </p:cNvPicPr>
          <p:nvPr/>
        </p:nvPicPr>
        <p:blipFill>
          <a:blip r:embed="rId8"/>
          <a:stretch>
            <a:fillRect/>
          </a:stretch>
        </p:blipFill>
        <p:spPr>
          <a:xfrm>
            <a:off x="8094365" y="3602736"/>
            <a:ext cx="5592277" cy="320040"/>
          </a:xfrm>
          <a:prstGeom prst="rect">
            <a:avLst/>
          </a:prstGeom>
        </p:spPr>
      </p:pic>
      <p:pic>
        <p:nvPicPr>
          <p:cNvPr id="20" name="Picture 19" descr="eq_torus2.png"/>
          <p:cNvPicPr>
            <a:picLocks noChangeAspect="1"/>
          </p:cNvPicPr>
          <p:nvPr/>
        </p:nvPicPr>
        <p:blipFill>
          <a:blip r:embed="rId9"/>
          <a:stretch>
            <a:fillRect/>
          </a:stretch>
        </p:blipFill>
        <p:spPr>
          <a:xfrm>
            <a:off x="9667701" y="3986784"/>
            <a:ext cx="2957668" cy="329184"/>
          </a:xfrm>
          <a:prstGeom prst="rect">
            <a:avLst/>
          </a:prstGeom>
        </p:spPr>
      </p:pic>
      <p:sp>
        <p:nvSpPr>
          <p:cNvPr id="21" name="TextBox 20"/>
          <p:cNvSpPr txBox="1"/>
          <p:nvPr/>
        </p:nvSpPr>
        <p:spPr>
          <a:xfrm>
            <a:off x="7955279" y="4325112"/>
            <a:ext cx="5852160" cy="219456"/>
          </a:xfrm>
          <a:prstGeom prst="rect">
            <a:avLst/>
          </a:prstGeom>
          <a:noFill/>
        </p:spPr>
        <p:txBody>
          <a:bodyPr wrap="square" lIns="0" tIns="0" rIns="0" bIns="0" anchor="t">
            <a:noAutofit/>
          </a:bodyPr>
          <a:lstStyle/>
          <a:p>
            <a:pPr algn="l">
              <a:lnSpc>
                <a:spcPct val="100000"/>
              </a:lnSpc>
              <a:spcBef>
                <a:spcPts val="0"/>
              </a:spcBef>
              <a:spcAft>
                <a:spcPts val="0"/>
              </a:spcAft>
            </a:pPr>
            <a:r>
              <a:rPr sz="1400" b="0">
                <a:solidFill>
                  <a:srgbClr val="ACB9BA"/>
                </a:solidFill>
                <a:latin typeface="Arial"/>
              </a:rPr>
              <a:t>Torus a/b: major-circle / tube angles; radii 1 and 0.025.</a:t>
            </a:r>
          </a:p>
        </p:txBody>
      </p:sp>
      <p:sp>
        <p:nvSpPr>
          <p:cNvPr id="22" name="TextBox 21"/>
          <p:cNvSpPr txBox="1"/>
          <p:nvPr/>
        </p:nvSpPr>
        <p:spPr>
          <a:xfrm>
            <a:off x="548640" y="4800600"/>
            <a:ext cx="6675120" cy="338328"/>
          </a:xfrm>
          <a:prstGeom prst="rect">
            <a:avLst/>
          </a:prstGeom>
          <a:noFill/>
        </p:spPr>
        <p:txBody>
          <a:bodyPr wrap="square" lIns="0" tIns="0" rIns="0" bIns="0" anchor="t">
            <a:noAutofit/>
          </a:bodyPr>
          <a:lstStyle/>
          <a:p>
            <a:pPr algn="l">
              <a:lnSpc>
                <a:spcPct val="100000"/>
              </a:lnSpc>
              <a:spcBef>
                <a:spcPts val="0"/>
              </a:spcBef>
              <a:spcAft>
                <a:spcPts val="0"/>
              </a:spcAft>
            </a:pPr>
            <a:r>
              <a:rPr sz="2000" b="1">
                <a:solidFill>
                  <a:srgbClr val="D5A45E"/>
                </a:solidFill>
                <a:latin typeface="Arial"/>
              </a:rPr>
              <a:t>WORM BODY / bend a radial surface</a:t>
            </a:r>
          </a:p>
        </p:txBody>
      </p:sp>
      <p:pic>
        <p:nvPicPr>
          <p:cNvPr id="23" name="Picture 22" descr="eq_body.png"/>
          <p:cNvPicPr>
            <a:picLocks noChangeAspect="1"/>
          </p:cNvPicPr>
          <p:nvPr/>
        </p:nvPicPr>
        <p:blipFill>
          <a:blip r:embed="rId10"/>
          <a:stretch>
            <a:fillRect/>
          </a:stretch>
        </p:blipFill>
        <p:spPr>
          <a:xfrm>
            <a:off x="548639" y="5375963"/>
            <a:ext cx="6784848" cy="376321"/>
          </a:xfrm>
          <a:prstGeom prst="rect">
            <a:avLst/>
          </a:prstGeom>
        </p:spPr>
      </p:pic>
      <p:sp>
        <p:nvSpPr>
          <p:cNvPr id="24" name="TextBox 23"/>
          <p:cNvSpPr txBox="1"/>
          <p:nvPr/>
        </p:nvSpPr>
        <p:spPr>
          <a:xfrm>
            <a:off x="594360" y="5989320"/>
            <a:ext cx="6720840" cy="1197864"/>
          </a:xfrm>
          <a:prstGeom prst="rect">
            <a:avLst/>
          </a:prstGeom>
          <a:noFill/>
        </p:spPr>
        <p:txBody>
          <a:bodyPr wrap="square" lIns="0" tIns="0" rIns="0" bIns="0" anchor="t">
            <a:noAutofit/>
          </a:bodyPr>
          <a:lstStyle/>
          <a:p>
            <a:pPr algn="l">
              <a:lnSpc>
                <a:spcPct val="100000"/>
              </a:lnSpc>
              <a:spcBef>
                <a:spcPts val="0"/>
              </a:spcBef>
              <a:spcAft>
                <a:spcPts val="0"/>
              </a:spcAft>
            </a:pPr>
            <a:r>
              <a:rPr sz="1700" b="0">
                <a:solidFill>
                  <a:srgbClr val="F0E9DA"/>
                </a:solidFill>
                <a:latin typeface="Arial"/>
              </a:rPr>
              <a:t>C(t): buried cubic Bezier + curved 64-unit neck.</a:t>
            </a:r>
          </a:p>
          <a:p>
            <a:pPr algn="l">
              <a:lnSpc>
                <a:spcPct val="100000"/>
              </a:lnSpc>
              <a:spcBef>
                <a:spcPts val="0"/>
              </a:spcBef>
              <a:spcAft>
                <a:spcPts val="0"/>
              </a:spcAft>
            </a:pPr>
            <a:r>
              <a:rPr sz="1700" b="0">
                <a:solidFill>
                  <a:srgbClr val="F0E9DA"/>
                </a:solidFill>
                <a:latin typeface="Arial"/>
              </a:rPr>
              <a:t>t: along body; a: ring angle; T: centreline tangent.</a:t>
            </a:r>
          </a:p>
          <a:p>
            <a:pPr algn="l">
              <a:lnSpc>
                <a:spcPct val="100000"/>
              </a:lnSpc>
              <a:spcBef>
                <a:spcPts val="0"/>
              </a:spcBef>
              <a:spcAft>
                <a:spcPts val="0"/>
              </a:spcAft>
            </a:pPr>
            <a:r>
              <a:rPr sz="1700" b="0">
                <a:solidFill>
                  <a:srgbClr val="F0E9DA"/>
                </a:solidFill>
                <a:latin typeface="Arial"/>
              </a:rPr>
              <a:t>rho: radius + 32 ridges/grain + mouth taper.</a:t>
            </a:r>
          </a:p>
          <a:p>
            <a:pPr algn="l">
              <a:lnSpc>
                <a:spcPct val="100000"/>
              </a:lnSpc>
              <a:spcBef>
                <a:spcPts val="0"/>
              </a:spcBef>
              <a:spcAft>
                <a:spcPts val="0"/>
              </a:spcAft>
            </a:pPr>
            <a:r>
              <a:rPr sz="1700" b="0">
                <a:solidFill>
                  <a:srgbClr val="F0E9DA"/>
                </a:solidFill>
                <a:latin typeface="Arial"/>
              </a:rPr>
              <a:t>Profile revolution creates lip, funnel and throat.</a:t>
            </a:r>
          </a:p>
        </p:txBody>
      </p:sp>
      <p:sp>
        <p:nvSpPr>
          <p:cNvPr id="25" name="TextBox 24"/>
          <p:cNvSpPr txBox="1"/>
          <p:nvPr/>
        </p:nvSpPr>
        <p:spPr>
          <a:xfrm>
            <a:off x="7909560" y="4800600"/>
            <a:ext cx="5943600" cy="338328"/>
          </a:xfrm>
          <a:prstGeom prst="rect">
            <a:avLst/>
          </a:prstGeom>
          <a:noFill/>
        </p:spPr>
        <p:txBody>
          <a:bodyPr wrap="square" lIns="0" tIns="0" rIns="0" bIns="0" anchor="t">
            <a:noAutofit/>
          </a:bodyPr>
          <a:lstStyle/>
          <a:p>
            <a:pPr algn="l">
              <a:lnSpc>
                <a:spcPct val="100000"/>
              </a:lnSpc>
              <a:spcBef>
                <a:spcPts val="0"/>
              </a:spcBef>
              <a:spcAft>
                <a:spcPts val="0"/>
              </a:spcAft>
            </a:pPr>
            <a:r>
              <a:rPr sz="2000" b="1">
                <a:solidFill>
                  <a:srgbClr val="58CFD1"/>
                </a:solidFill>
                <a:latin typeface="Arial"/>
              </a:rPr>
              <a:t>TEETH / a curved, tapered centreline</a:t>
            </a:r>
          </a:p>
        </p:txBody>
      </p:sp>
      <p:pic>
        <p:nvPicPr>
          <p:cNvPr id="26" name="Picture 25" descr="eq_tooth1.png"/>
          <p:cNvPicPr>
            <a:picLocks noChangeAspect="1"/>
          </p:cNvPicPr>
          <p:nvPr/>
        </p:nvPicPr>
        <p:blipFill>
          <a:blip r:embed="rId11"/>
          <a:stretch>
            <a:fillRect/>
          </a:stretch>
        </p:blipFill>
        <p:spPr>
          <a:xfrm>
            <a:off x="9075957" y="5312664"/>
            <a:ext cx="3519364" cy="411480"/>
          </a:xfrm>
          <a:prstGeom prst="rect">
            <a:avLst/>
          </a:prstGeom>
        </p:spPr>
      </p:pic>
      <p:pic>
        <p:nvPicPr>
          <p:cNvPr id="27" name="Picture 26" descr="eq_tooth2.png"/>
          <p:cNvPicPr>
            <a:picLocks noChangeAspect="1"/>
          </p:cNvPicPr>
          <p:nvPr/>
        </p:nvPicPr>
        <p:blipFill>
          <a:blip r:embed="rId12"/>
          <a:stretch>
            <a:fillRect/>
          </a:stretch>
        </p:blipFill>
        <p:spPr>
          <a:xfrm>
            <a:off x="8767649" y="5742432"/>
            <a:ext cx="4135981" cy="393192"/>
          </a:xfrm>
          <a:prstGeom prst="rect">
            <a:avLst/>
          </a:prstGeom>
        </p:spPr>
      </p:pic>
      <p:pic>
        <p:nvPicPr>
          <p:cNvPr id="28" name="Picture 27" descr="eq_tooth3.png"/>
          <p:cNvPicPr>
            <a:picLocks noChangeAspect="1"/>
          </p:cNvPicPr>
          <p:nvPr/>
        </p:nvPicPr>
        <p:blipFill>
          <a:blip r:embed="rId13"/>
          <a:stretch>
            <a:fillRect/>
          </a:stretch>
        </p:blipFill>
        <p:spPr>
          <a:xfrm>
            <a:off x="8676609" y="6236208"/>
            <a:ext cx="4318061" cy="411480"/>
          </a:xfrm>
          <a:prstGeom prst="rect">
            <a:avLst/>
          </a:prstGeom>
        </p:spPr>
      </p:pic>
      <p:sp>
        <p:nvSpPr>
          <p:cNvPr id="29" name="TextBox 28"/>
          <p:cNvSpPr txBox="1"/>
          <p:nvPr/>
        </p:nvSpPr>
        <p:spPr>
          <a:xfrm>
            <a:off x="7909560" y="6739128"/>
            <a:ext cx="5943600" cy="512064"/>
          </a:xfrm>
          <a:prstGeom prst="rect">
            <a:avLst/>
          </a:prstGeom>
          <a:noFill/>
        </p:spPr>
        <p:txBody>
          <a:bodyPr wrap="square" lIns="0" tIns="0" rIns="0" bIns="0" anchor="t">
            <a:noAutofit/>
          </a:bodyPr>
          <a:lstStyle/>
          <a:p>
            <a:pPr algn="l">
              <a:lnSpc>
                <a:spcPct val="100000"/>
              </a:lnSpc>
              <a:spcBef>
                <a:spcPts val="0"/>
              </a:spcBef>
              <a:spcAft>
                <a:spcPts val="0"/>
              </a:spcAft>
            </a:pPr>
            <a:r>
              <a:rPr sz="1450" b="0">
                <a:solidFill>
                  <a:srgbClr val="ACB9BA"/>
                </a:solidFill>
                <a:latin typeface="Arial"/>
              </a:rPr>
              <a:t>R/S: radial/tangential; r/d: row radius/depth.</a:t>
            </a:r>
          </a:p>
          <a:p>
            <a:pPr algn="l">
              <a:lnSpc>
                <a:spcPct val="100000"/>
              </a:lnSpc>
              <a:spcBef>
                <a:spcPts val="0"/>
              </a:spcBef>
              <a:spcAft>
                <a:spcPts val="0"/>
              </a:spcAft>
            </a:pPr>
            <a:r>
              <a:rPr sz="1450" b="0">
                <a:solidFill>
                  <a:srgbClr val="ACB9BA"/>
                </a:solidFill>
                <a:latin typeface="Arial"/>
              </a:rPr>
              <a:t>l: reach; c: curl; D: drop; w: base width; t: base -&gt; tip.</a:t>
            </a:r>
          </a:p>
        </p:txBody>
      </p:sp>
      <p:sp>
        <p:nvSpPr>
          <p:cNvPr id="30" name="Rectangle 29"/>
          <p:cNvSpPr/>
          <p:nvPr/>
        </p:nvSpPr>
        <p:spPr>
          <a:xfrm>
            <a:off x="548640" y="7296912"/>
            <a:ext cx="13533120" cy="365760"/>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48640" y="7296912"/>
            <a:ext cx="36576" cy="365760"/>
          </a:xfrm>
          <a:prstGeom prst="rect">
            <a:avLst/>
          </a:prstGeom>
          <a:solidFill>
            <a:srgbClr val="58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4944" y="7370064"/>
            <a:ext cx="13304520" cy="237744"/>
          </a:xfrm>
          <a:prstGeom prst="rect">
            <a:avLst/>
          </a:prstGeom>
          <a:noFill/>
        </p:spPr>
        <p:txBody>
          <a:bodyPr wrap="square" lIns="0" tIns="0" rIns="0" bIns="0" anchor="t">
            <a:noAutofit/>
          </a:bodyPr>
          <a:lstStyle/>
          <a:p>
            <a:pPr algn="l">
              <a:lnSpc>
                <a:spcPct val="100000"/>
              </a:lnSpc>
              <a:spcBef>
                <a:spcPts val="0"/>
              </a:spcBef>
              <a:spcAft>
                <a:spcPts val="0"/>
              </a:spcAft>
            </a:pPr>
            <a:r>
              <a:rPr sz="1500" b="0">
                <a:solidFill>
                  <a:srgbClr val="58CFD1"/>
                </a:solidFill>
                <a:latin typeface="Arial"/>
              </a:rPr>
              <a:t>A readable equation-to-object mapping: dunes, hull/tank/worker curves, beacon rings, flexible worm and curved teeth.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181E"/>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252728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1">
                <a:solidFill>
                  <a:srgbClr val="D5A45E"/>
                </a:solidFill>
                <a:latin typeface="Arial"/>
              </a:rPr>
              <a:t>DYNAMIC OBJECTS AND DYNAMIC SCENES</a:t>
            </a:r>
          </a:p>
        </p:txBody>
      </p:sp>
      <p:sp>
        <p:nvSpPr>
          <p:cNvPr id="3" name="TextBox 2"/>
          <p:cNvSpPr txBox="1"/>
          <p:nvPr/>
        </p:nvSpPr>
        <p:spPr>
          <a:xfrm>
            <a:off x="548640" y="694944"/>
            <a:ext cx="13350240" cy="594360"/>
          </a:xfrm>
          <a:prstGeom prst="rect">
            <a:avLst/>
          </a:prstGeom>
          <a:noFill/>
        </p:spPr>
        <p:txBody>
          <a:bodyPr wrap="square" lIns="0" tIns="0" rIns="0" bIns="0" anchor="t">
            <a:noAutofit/>
          </a:bodyPr>
          <a:lstStyle/>
          <a:p>
            <a:pPr algn="l">
              <a:lnSpc>
                <a:spcPct val="100000"/>
              </a:lnSpc>
              <a:spcBef>
                <a:spcPts val="0"/>
              </a:spcBef>
              <a:spcAft>
                <a:spcPts val="0"/>
              </a:spcAft>
            </a:pPr>
            <a:r>
              <a:rPr sz="3600" b="1">
                <a:solidFill>
                  <a:srgbClr val="F0E9DA"/>
                </a:solidFill>
                <a:latin typeface="Bahnschrift"/>
              </a:rPr>
              <a:t>Complex motion / One changing rescue scene</a:t>
            </a:r>
          </a:p>
        </p:txBody>
      </p:sp>
      <p:sp>
        <p:nvSpPr>
          <p:cNvPr id="4" name="TextBox 3"/>
          <p:cNvSpPr txBox="1"/>
          <p:nvPr/>
        </p:nvSpPr>
        <p:spPr>
          <a:xfrm>
            <a:off x="566928" y="1316736"/>
            <a:ext cx="13441680" cy="329184"/>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ACB9BA"/>
                </a:solidFill>
                <a:latin typeface="Arial"/>
              </a:rPr>
              <a:t>Objects move independently, while mission events change what the player can rescue and what remains visible.</a:t>
            </a:r>
          </a:p>
        </p:txBody>
      </p:sp>
      <p:cxnSp>
        <p:nvCxnSpPr>
          <p:cNvPr id="5" name="Connector 4"/>
          <p:cNvCxnSpPr/>
          <p:nvPr/>
        </p:nvCxnSpPr>
        <p:spPr>
          <a:xfrm>
            <a:off x="548640" y="7772400"/>
            <a:ext cx="13533120" cy="0"/>
          </a:xfrm>
          <a:prstGeom prst="line">
            <a:avLst/>
          </a:prstGeom>
          <a:ln w="12700">
            <a:solidFill>
              <a:srgbClr val="42545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7900416"/>
            <a:ext cx="11338560" cy="219456"/>
          </a:xfrm>
          <a:prstGeom prst="rect">
            <a:avLst/>
          </a:prstGeom>
          <a:noFill/>
        </p:spPr>
        <p:txBody>
          <a:bodyPr wrap="square" lIns="0" tIns="0" rIns="0" bIns="0" anchor="t">
            <a:noAutofit/>
          </a:bodyPr>
          <a:lstStyle/>
          <a:p>
            <a:pPr algn="l">
              <a:lnSpc>
                <a:spcPct val="100000"/>
              </a:lnSpc>
              <a:spcBef>
                <a:spcPts val="0"/>
              </a:spcBef>
              <a:spcAft>
                <a:spcPts val="0"/>
              </a:spcAft>
            </a:pPr>
            <a:r>
              <a:rPr sz="1000" b="0">
                <a:solidFill>
                  <a:srgbClr val="ACB9BA"/>
                </a:solidFill>
                <a:latin typeface="Arial"/>
              </a:rPr>
              <a:t>ARRAKIS / HARVESTER DOWN     |     ASIQUE EHETASAMUL HAQUE     |     CSE 4102</a:t>
            </a:r>
          </a:p>
        </p:txBody>
      </p:sp>
      <p:sp>
        <p:nvSpPr>
          <p:cNvPr id="7" name="TextBox 6"/>
          <p:cNvSpPr txBox="1"/>
          <p:nvPr/>
        </p:nvSpPr>
        <p:spPr>
          <a:xfrm>
            <a:off x="13167360" y="7863840"/>
            <a:ext cx="914400" cy="274320"/>
          </a:xfrm>
          <a:prstGeom prst="rect">
            <a:avLst/>
          </a:prstGeom>
          <a:noFill/>
        </p:spPr>
        <p:txBody>
          <a:bodyPr wrap="square" lIns="0" tIns="0" rIns="0" bIns="0" anchor="t">
            <a:noAutofit/>
          </a:bodyPr>
          <a:lstStyle/>
          <a:p>
            <a:pPr algn="r">
              <a:lnSpc>
                <a:spcPct val="100000"/>
              </a:lnSpc>
              <a:spcBef>
                <a:spcPts val="0"/>
              </a:spcBef>
              <a:spcAft>
                <a:spcPts val="0"/>
              </a:spcAft>
            </a:pPr>
            <a:r>
              <a:rPr sz="1300" b="1">
                <a:solidFill>
                  <a:srgbClr val="D5A45E"/>
                </a:solidFill>
                <a:latin typeface="Arial"/>
              </a:rPr>
              <a:t>06 / 10</a:t>
            </a:r>
          </a:p>
        </p:txBody>
      </p:sp>
      <p:sp>
        <p:nvSpPr>
          <p:cNvPr id="8" name="TextBox 7"/>
          <p:cNvSpPr txBox="1"/>
          <p:nvPr/>
        </p:nvSpPr>
        <p:spPr>
          <a:xfrm>
            <a:off x="548640" y="1892807"/>
            <a:ext cx="3200400" cy="283464"/>
          </a:xfrm>
          <a:prstGeom prst="rect">
            <a:avLst/>
          </a:prstGeom>
          <a:noFill/>
        </p:spPr>
        <p:txBody>
          <a:bodyPr wrap="square" lIns="0" tIns="0" rIns="0" bIns="0" anchor="t">
            <a:noAutofit/>
          </a:bodyPr>
          <a:lstStyle/>
          <a:p>
            <a:pPr algn="l">
              <a:lnSpc>
                <a:spcPct val="100000"/>
              </a:lnSpc>
              <a:spcBef>
                <a:spcPts val="0"/>
              </a:spcBef>
              <a:spcAft>
                <a:spcPts val="0"/>
              </a:spcAft>
            </a:pPr>
            <a:r>
              <a:rPr sz="1900" b="1">
                <a:solidFill>
                  <a:srgbClr val="D5A45E"/>
                </a:solidFill>
                <a:latin typeface="Arial"/>
              </a:rPr>
              <a:t>APPROACH</a:t>
            </a:r>
          </a:p>
        </p:txBody>
      </p:sp>
      <p:pic>
        <p:nvPicPr>
          <p:cNvPr id="9" name="Picture 8" descr="worm_approach.png"/>
          <p:cNvPicPr>
            <a:picLocks noChangeAspect="1"/>
          </p:cNvPicPr>
          <p:nvPr/>
        </p:nvPicPr>
        <p:blipFill>
          <a:blip r:embed="rId3"/>
          <a:srcRect t="3016" b="3016"/>
          <a:stretch>
            <a:fillRect/>
          </a:stretch>
        </p:blipFill>
        <p:spPr>
          <a:xfrm>
            <a:off x="548640" y="2249424"/>
            <a:ext cx="3200400" cy="1691640"/>
          </a:xfrm>
          <a:prstGeom prst="rect">
            <a:avLst/>
          </a:prstGeom>
        </p:spPr>
      </p:pic>
      <p:sp>
        <p:nvSpPr>
          <p:cNvPr id="10" name="TextBox 9"/>
          <p:cNvSpPr txBox="1"/>
          <p:nvPr/>
        </p:nvSpPr>
        <p:spPr>
          <a:xfrm>
            <a:off x="548640" y="4041648"/>
            <a:ext cx="3200400" cy="320040"/>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ACB9BA"/>
                </a:solidFill>
                <a:latin typeface="Arial"/>
              </a:rPr>
              <a:t>Wake + closing gap</a:t>
            </a:r>
          </a:p>
        </p:txBody>
      </p:sp>
      <p:sp>
        <p:nvSpPr>
          <p:cNvPr id="11" name="Chevron 10"/>
          <p:cNvSpPr/>
          <p:nvPr/>
        </p:nvSpPr>
        <p:spPr>
          <a:xfrm>
            <a:off x="3758184" y="2944368"/>
            <a:ext cx="173736" cy="274320"/>
          </a:xfrm>
          <a:prstGeom prst="chevron">
            <a:avLst/>
          </a:prstGeom>
          <a:solidFill>
            <a:srgbClr val="58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977639" y="1892807"/>
            <a:ext cx="3200400" cy="283464"/>
          </a:xfrm>
          <a:prstGeom prst="rect">
            <a:avLst/>
          </a:prstGeom>
          <a:noFill/>
        </p:spPr>
        <p:txBody>
          <a:bodyPr wrap="square" lIns="0" tIns="0" rIns="0" bIns="0" anchor="t">
            <a:noAutofit/>
          </a:bodyPr>
          <a:lstStyle/>
          <a:p>
            <a:pPr algn="l">
              <a:lnSpc>
                <a:spcPct val="100000"/>
              </a:lnSpc>
              <a:spcBef>
                <a:spcPts val="0"/>
              </a:spcBef>
              <a:spcAft>
                <a:spcPts val="0"/>
              </a:spcAft>
            </a:pPr>
            <a:r>
              <a:rPr sz="1900" b="1">
                <a:solidFill>
                  <a:srgbClr val="D5A45E"/>
                </a:solidFill>
                <a:latin typeface="Arial"/>
              </a:rPr>
              <a:t>RISE</a:t>
            </a:r>
          </a:p>
        </p:txBody>
      </p:sp>
      <p:pic>
        <p:nvPicPr>
          <p:cNvPr id="13" name="Picture 12" descr="worm_rise.png"/>
          <p:cNvPicPr>
            <a:picLocks noChangeAspect="1"/>
          </p:cNvPicPr>
          <p:nvPr/>
        </p:nvPicPr>
        <p:blipFill>
          <a:blip r:embed="rId4"/>
          <a:srcRect t="3016" b="3016"/>
          <a:stretch>
            <a:fillRect/>
          </a:stretch>
        </p:blipFill>
        <p:spPr>
          <a:xfrm>
            <a:off x="3977639" y="2249424"/>
            <a:ext cx="3200400" cy="1691640"/>
          </a:xfrm>
          <a:prstGeom prst="rect">
            <a:avLst/>
          </a:prstGeom>
        </p:spPr>
      </p:pic>
      <p:sp>
        <p:nvSpPr>
          <p:cNvPr id="14" name="TextBox 13"/>
          <p:cNvSpPr txBox="1"/>
          <p:nvPr/>
        </p:nvSpPr>
        <p:spPr>
          <a:xfrm>
            <a:off x="3977639" y="4041648"/>
            <a:ext cx="3200400" cy="320040"/>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ACB9BA"/>
                </a:solidFill>
                <a:latin typeface="Arial"/>
              </a:rPr>
              <a:t>0-6 s after breach</a:t>
            </a:r>
          </a:p>
        </p:txBody>
      </p:sp>
      <p:sp>
        <p:nvSpPr>
          <p:cNvPr id="15" name="Chevron 14"/>
          <p:cNvSpPr/>
          <p:nvPr/>
        </p:nvSpPr>
        <p:spPr>
          <a:xfrm>
            <a:off x="7187184" y="2944368"/>
            <a:ext cx="173736" cy="274320"/>
          </a:xfrm>
          <a:prstGeom prst="chevron">
            <a:avLst/>
          </a:prstGeom>
          <a:solidFill>
            <a:srgbClr val="58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06640" y="1892807"/>
            <a:ext cx="3200400" cy="283464"/>
          </a:xfrm>
          <a:prstGeom prst="rect">
            <a:avLst/>
          </a:prstGeom>
          <a:noFill/>
        </p:spPr>
        <p:txBody>
          <a:bodyPr wrap="square" lIns="0" tIns="0" rIns="0" bIns="0" anchor="t">
            <a:noAutofit/>
          </a:bodyPr>
          <a:lstStyle/>
          <a:p>
            <a:pPr algn="l">
              <a:lnSpc>
                <a:spcPct val="100000"/>
              </a:lnSpc>
              <a:spcBef>
                <a:spcPts val="0"/>
              </a:spcBef>
              <a:spcAft>
                <a:spcPts val="0"/>
              </a:spcAft>
            </a:pPr>
            <a:r>
              <a:rPr sz="1900" b="1">
                <a:solidFill>
                  <a:srgbClr val="58CFD1"/>
                </a:solidFill>
                <a:latin typeface="Arial"/>
              </a:rPr>
              <a:t>ATTACK / SWALLOW</a:t>
            </a:r>
          </a:p>
        </p:txBody>
      </p:sp>
      <p:pic>
        <p:nvPicPr>
          <p:cNvPr id="17" name="Picture 16" descr="worm_attack.png"/>
          <p:cNvPicPr>
            <a:picLocks noChangeAspect="1"/>
          </p:cNvPicPr>
          <p:nvPr/>
        </p:nvPicPr>
        <p:blipFill>
          <a:blip r:embed="rId5"/>
          <a:srcRect t="3016" b="3016"/>
          <a:stretch>
            <a:fillRect/>
          </a:stretch>
        </p:blipFill>
        <p:spPr>
          <a:xfrm>
            <a:off x="7406640" y="2249424"/>
            <a:ext cx="3200400" cy="1691640"/>
          </a:xfrm>
          <a:prstGeom prst="rect">
            <a:avLst/>
          </a:prstGeom>
        </p:spPr>
      </p:pic>
      <p:sp>
        <p:nvSpPr>
          <p:cNvPr id="18" name="TextBox 17"/>
          <p:cNvSpPr txBox="1"/>
          <p:nvPr/>
        </p:nvSpPr>
        <p:spPr>
          <a:xfrm>
            <a:off x="7406640" y="4041648"/>
            <a:ext cx="3200400" cy="320040"/>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ACB9BA"/>
                </a:solidFill>
                <a:latin typeface="Arial"/>
              </a:rPr>
              <a:t>6-12 s: lunge + sink</a:t>
            </a:r>
          </a:p>
        </p:txBody>
      </p:sp>
      <p:sp>
        <p:nvSpPr>
          <p:cNvPr id="19" name="Chevron 18"/>
          <p:cNvSpPr/>
          <p:nvPr/>
        </p:nvSpPr>
        <p:spPr>
          <a:xfrm>
            <a:off x="10616184" y="2944368"/>
            <a:ext cx="173736" cy="274320"/>
          </a:xfrm>
          <a:prstGeom prst="chevron">
            <a:avLst/>
          </a:prstGeom>
          <a:solidFill>
            <a:srgbClr val="58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835640" y="1892807"/>
            <a:ext cx="3200400" cy="283464"/>
          </a:xfrm>
          <a:prstGeom prst="rect">
            <a:avLst/>
          </a:prstGeom>
          <a:noFill/>
        </p:spPr>
        <p:txBody>
          <a:bodyPr wrap="square" lIns="0" tIns="0" rIns="0" bIns="0" anchor="t">
            <a:noAutofit/>
          </a:bodyPr>
          <a:lstStyle/>
          <a:p>
            <a:pPr algn="l">
              <a:lnSpc>
                <a:spcPct val="100000"/>
              </a:lnSpc>
              <a:spcBef>
                <a:spcPts val="0"/>
              </a:spcBef>
              <a:spcAft>
                <a:spcPts val="0"/>
              </a:spcAft>
            </a:pPr>
            <a:r>
              <a:rPr sz="1900" b="1">
                <a:solidFill>
                  <a:srgbClr val="58CFD1"/>
                </a:solidFill>
                <a:latin typeface="Arial"/>
              </a:rPr>
              <a:t>RETREAT</a:t>
            </a:r>
          </a:p>
        </p:txBody>
      </p:sp>
      <p:pic>
        <p:nvPicPr>
          <p:cNvPr id="21" name="Picture 20" descr="worm_retreat.png"/>
          <p:cNvPicPr>
            <a:picLocks noChangeAspect="1"/>
          </p:cNvPicPr>
          <p:nvPr/>
        </p:nvPicPr>
        <p:blipFill>
          <a:blip r:embed="rId6"/>
          <a:srcRect t="3016" b="3016"/>
          <a:stretch>
            <a:fillRect/>
          </a:stretch>
        </p:blipFill>
        <p:spPr>
          <a:xfrm>
            <a:off x="10835640" y="2249424"/>
            <a:ext cx="3200400" cy="1691640"/>
          </a:xfrm>
          <a:prstGeom prst="rect">
            <a:avLst/>
          </a:prstGeom>
        </p:spPr>
      </p:pic>
      <p:sp>
        <p:nvSpPr>
          <p:cNvPr id="22" name="TextBox 21"/>
          <p:cNvSpPr txBox="1"/>
          <p:nvPr/>
        </p:nvSpPr>
        <p:spPr>
          <a:xfrm>
            <a:off x="10835640" y="4041648"/>
            <a:ext cx="3200400" cy="320040"/>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ACB9BA"/>
                </a:solidFill>
                <a:latin typeface="Arial"/>
              </a:rPr>
              <a:t>13.5-18 s: withdraw</a:t>
            </a:r>
          </a:p>
        </p:txBody>
      </p:sp>
      <p:cxnSp>
        <p:nvCxnSpPr>
          <p:cNvPr id="23" name="Connector 22"/>
          <p:cNvCxnSpPr/>
          <p:nvPr/>
        </p:nvCxnSpPr>
        <p:spPr>
          <a:xfrm>
            <a:off x="548640" y="4471416"/>
            <a:ext cx="13441680" cy="0"/>
          </a:xfrm>
          <a:prstGeom prst="line">
            <a:avLst/>
          </a:prstGeom>
          <a:ln w="19050">
            <a:solidFill>
              <a:srgbClr val="42545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8640" y="4654296"/>
            <a:ext cx="6446520" cy="292608"/>
          </a:xfrm>
          <a:prstGeom prst="rect">
            <a:avLst/>
          </a:prstGeom>
          <a:noFill/>
        </p:spPr>
        <p:txBody>
          <a:bodyPr wrap="square" lIns="0" tIns="0" rIns="0" bIns="0" anchor="t">
            <a:noAutofit/>
          </a:bodyPr>
          <a:lstStyle/>
          <a:p>
            <a:pPr algn="l">
              <a:lnSpc>
                <a:spcPct val="100000"/>
              </a:lnSpc>
              <a:spcBef>
                <a:spcPts val="0"/>
              </a:spcBef>
              <a:spcAft>
                <a:spcPts val="0"/>
              </a:spcAft>
            </a:pPr>
            <a:r>
              <a:rPr sz="2000" b="1">
                <a:solidFill>
                  <a:srgbClr val="58CFD1"/>
                </a:solidFill>
                <a:latin typeface="Arial"/>
              </a:rPr>
              <a:t>FLIGHT + ARTICULATION</a:t>
            </a:r>
          </a:p>
        </p:txBody>
      </p:sp>
      <p:pic>
        <p:nvPicPr>
          <p:cNvPr id="25" name="Picture 24" descr="eq_velocity.png"/>
          <p:cNvPicPr>
            <a:picLocks noChangeAspect="1"/>
          </p:cNvPicPr>
          <p:nvPr/>
        </p:nvPicPr>
        <p:blipFill>
          <a:blip r:embed="rId7"/>
          <a:stretch>
            <a:fillRect/>
          </a:stretch>
        </p:blipFill>
        <p:spPr>
          <a:xfrm>
            <a:off x="1625631" y="5056632"/>
            <a:ext cx="4356544" cy="411480"/>
          </a:xfrm>
          <a:prstGeom prst="rect">
            <a:avLst/>
          </a:prstGeom>
        </p:spPr>
      </p:pic>
      <p:pic>
        <p:nvPicPr>
          <p:cNvPr id="26" name="Picture 25" descr="eq_wing.png"/>
          <p:cNvPicPr>
            <a:picLocks noChangeAspect="1"/>
          </p:cNvPicPr>
          <p:nvPr/>
        </p:nvPicPr>
        <p:blipFill>
          <a:blip r:embed="rId8"/>
          <a:stretch>
            <a:fillRect/>
          </a:stretch>
        </p:blipFill>
        <p:spPr>
          <a:xfrm>
            <a:off x="693238" y="5550408"/>
            <a:ext cx="6221331" cy="411480"/>
          </a:xfrm>
          <a:prstGeom prst="rect">
            <a:avLst/>
          </a:prstGeom>
        </p:spPr>
      </p:pic>
      <p:sp>
        <p:nvSpPr>
          <p:cNvPr id="27" name="TextBox 26"/>
          <p:cNvSpPr txBox="1"/>
          <p:nvPr/>
        </p:nvSpPr>
        <p:spPr>
          <a:xfrm>
            <a:off x="594360" y="6071616"/>
            <a:ext cx="6537960" cy="1124712"/>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F0E9DA"/>
                </a:solidFill>
                <a:latin typeface="Arial"/>
              </a:rPr>
              <a:t>k = 5.5 normal / 12 braking; speeds 28 / 48 units/s.</a:t>
            </a:r>
          </a:p>
          <a:p>
            <a:pPr algn="l">
              <a:lnSpc>
                <a:spcPct val="100000"/>
              </a:lnSpc>
              <a:spcBef>
                <a:spcPts val="0"/>
              </a:spcBef>
              <a:spcAft>
                <a:spcPts val="0"/>
              </a:spcAft>
            </a:pPr>
            <a:r>
              <a:rPr sz="1600" b="0">
                <a:solidFill>
                  <a:srgbClr val="F0E9DA"/>
                </a:solidFill>
                <a:latin typeface="Arial"/>
              </a:rPr>
              <a:t>Terrain following + pitch/bank; analytically smoothed yaw.</a:t>
            </a:r>
          </a:p>
          <a:p>
            <a:pPr algn="l">
              <a:lnSpc>
                <a:spcPct val="100000"/>
              </a:lnSpc>
              <a:spcBef>
                <a:spcPts val="0"/>
              </a:spcBef>
              <a:spcAft>
                <a:spcPts val="0"/>
              </a:spcAft>
            </a:pPr>
            <a:r>
              <a:rPr sz="1600" b="0">
                <a:solidFill>
                  <a:srgbClr val="F0E9DA"/>
                </a:solidFill>
                <a:latin typeface="Arial"/>
              </a:rPr>
              <a:t>Wing angles in degrees; phase 23 -&gt; 36 rad/s; twist/exhaust.</a:t>
            </a:r>
          </a:p>
          <a:p>
            <a:pPr algn="l">
              <a:lnSpc>
                <a:spcPct val="100000"/>
              </a:lnSpc>
              <a:spcBef>
                <a:spcPts val="0"/>
              </a:spcBef>
              <a:spcAft>
                <a:spcPts val="0"/>
              </a:spcAft>
            </a:pPr>
            <a:r>
              <a:rPr sz="1600" b="0">
                <a:solidFill>
                  <a:srgbClr val="F0E9DA"/>
                </a:solidFill>
                <a:latin typeface="Arial"/>
              </a:rPr>
              <a:t>Tracks/drum follow distance travelled, not idle clock time.</a:t>
            </a:r>
          </a:p>
        </p:txBody>
      </p:sp>
      <p:sp>
        <p:nvSpPr>
          <p:cNvPr id="28" name="TextBox 27"/>
          <p:cNvSpPr txBox="1"/>
          <p:nvPr/>
        </p:nvSpPr>
        <p:spPr>
          <a:xfrm>
            <a:off x="7680960" y="4654296"/>
            <a:ext cx="6309360" cy="292608"/>
          </a:xfrm>
          <a:prstGeom prst="rect">
            <a:avLst/>
          </a:prstGeom>
          <a:noFill/>
        </p:spPr>
        <p:txBody>
          <a:bodyPr wrap="square" lIns="0" tIns="0" rIns="0" bIns="0" anchor="t">
            <a:noAutofit/>
          </a:bodyPr>
          <a:lstStyle/>
          <a:p>
            <a:pPr algn="l">
              <a:lnSpc>
                <a:spcPct val="100000"/>
              </a:lnSpc>
              <a:spcBef>
                <a:spcPts val="0"/>
              </a:spcBef>
              <a:spcAft>
                <a:spcPts val="0"/>
              </a:spcAft>
            </a:pPr>
            <a:r>
              <a:rPr sz="2000" b="1">
                <a:solidFill>
                  <a:srgbClr val="D5A45E"/>
                </a:solidFill>
                <a:latin typeface="Arial"/>
              </a:rPr>
              <a:t>AUTONOMOUS ROUTE + EVACUATION</a:t>
            </a:r>
          </a:p>
        </p:txBody>
      </p:sp>
      <p:pic>
        <p:nvPicPr>
          <p:cNvPr id="29" name="Picture 28" descr="eq_route1.png"/>
          <p:cNvPicPr>
            <a:picLocks noChangeAspect="1"/>
          </p:cNvPicPr>
          <p:nvPr/>
        </p:nvPicPr>
        <p:blipFill>
          <a:blip r:embed="rId9"/>
          <a:stretch>
            <a:fillRect/>
          </a:stretch>
        </p:blipFill>
        <p:spPr>
          <a:xfrm>
            <a:off x="8411022" y="5056632"/>
            <a:ext cx="4776083" cy="365760"/>
          </a:xfrm>
          <a:prstGeom prst="rect">
            <a:avLst/>
          </a:prstGeom>
        </p:spPr>
      </p:pic>
      <p:pic>
        <p:nvPicPr>
          <p:cNvPr id="30" name="Picture 29" descr="eq_route2.png"/>
          <p:cNvPicPr>
            <a:picLocks noChangeAspect="1"/>
          </p:cNvPicPr>
          <p:nvPr/>
        </p:nvPicPr>
        <p:blipFill>
          <a:blip r:embed="rId10"/>
          <a:stretch>
            <a:fillRect/>
          </a:stretch>
        </p:blipFill>
        <p:spPr>
          <a:xfrm>
            <a:off x="7867683" y="5504688"/>
            <a:ext cx="5862761" cy="365760"/>
          </a:xfrm>
          <a:prstGeom prst="rect">
            <a:avLst/>
          </a:prstGeom>
        </p:spPr>
      </p:pic>
      <p:sp>
        <p:nvSpPr>
          <p:cNvPr id="31" name="TextBox 30"/>
          <p:cNvSpPr txBox="1"/>
          <p:nvPr/>
        </p:nvSpPr>
        <p:spPr>
          <a:xfrm>
            <a:off x="7726679" y="6007608"/>
            <a:ext cx="6227064" cy="1152144"/>
          </a:xfrm>
          <a:prstGeom prst="rect">
            <a:avLst/>
          </a:prstGeom>
          <a:noFill/>
        </p:spPr>
        <p:txBody>
          <a:bodyPr wrap="square" lIns="0" tIns="0" rIns="0" bIns="0" anchor="t">
            <a:noAutofit/>
          </a:bodyPr>
          <a:lstStyle/>
          <a:p>
            <a:pPr algn="l">
              <a:lnSpc>
                <a:spcPct val="100000"/>
              </a:lnSpc>
              <a:spcBef>
                <a:spcPts val="0"/>
              </a:spcBef>
              <a:spcAft>
                <a:spcPts val="0"/>
              </a:spcAft>
            </a:pPr>
            <a:r>
              <a:rPr sz="1650" b="0">
                <a:solidFill>
                  <a:srgbClr val="F0E9DA"/>
                </a:solidFill>
                <a:latin typeface="Arial"/>
              </a:rPr>
              <a:t>t: seconds; tangent heading and slope alignment.</a:t>
            </a:r>
          </a:p>
          <a:p>
            <a:pPr algn="l">
              <a:lnSpc>
                <a:spcPct val="100000"/>
              </a:lnSpc>
              <a:spcBef>
                <a:spcPts val="0"/>
              </a:spcBef>
              <a:spcAft>
                <a:spcPts val="0"/>
              </a:spcAft>
            </a:pPr>
            <a:r>
              <a:rPr sz="1650" b="0">
                <a:solidFill>
                  <a:srgbClr val="F0E9DA"/>
                </a:solidFill>
                <a:latin typeface="Arial"/>
              </a:rPr>
              <a:t>Groups release at 6 + 7j s; crew run at 3.8 units/s.</a:t>
            </a:r>
          </a:p>
          <a:p>
            <a:pPr algn="l">
              <a:lnSpc>
                <a:spcPct val="100000"/>
              </a:lnSpc>
              <a:spcBef>
                <a:spcPts val="0"/>
              </a:spcBef>
              <a:spcAft>
                <a:spcPts val="0"/>
              </a:spcAft>
            </a:pPr>
            <a:r>
              <a:rPr sz="1650" b="0">
                <a:solidFill>
                  <a:srgbClr val="F0E9DA"/>
                </a:solidFill>
                <a:latin typeface="Arial"/>
              </a:rPr>
              <a:t>Worm gap: 220 -&gt; 18; limbs animate; radius/height hazards.</a:t>
            </a:r>
          </a:p>
          <a:p>
            <a:pPr algn="l">
              <a:lnSpc>
                <a:spcPct val="100000"/>
              </a:lnSpc>
              <a:spcBef>
                <a:spcPts val="0"/>
              </a:spcBef>
              <a:spcAft>
                <a:spcPts val="0"/>
              </a:spcAft>
            </a:pPr>
            <a:r>
              <a:rPr sz="1650" b="0">
                <a:solidFill>
                  <a:srgbClr val="F0E9DA"/>
                </a:solidFill>
                <a:latin typeface="Arial"/>
              </a:rPr>
              <a:t>Current breach: 150 s; then 60 s final extraction.</a:t>
            </a:r>
          </a:p>
        </p:txBody>
      </p:sp>
      <p:sp>
        <p:nvSpPr>
          <p:cNvPr id="32" name="Rectangle 31"/>
          <p:cNvSpPr/>
          <p:nvPr/>
        </p:nvSpPr>
        <p:spPr>
          <a:xfrm>
            <a:off x="548640" y="7296912"/>
            <a:ext cx="13533120" cy="365760"/>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48640" y="7296912"/>
            <a:ext cx="36576" cy="365760"/>
          </a:xfrm>
          <a:prstGeom prst="rect">
            <a:avLst/>
          </a:prstGeom>
          <a:solidFill>
            <a:srgbClr val="58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94944" y="7370064"/>
            <a:ext cx="13304520" cy="237744"/>
          </a:xfrm>
          <a:prstGeom prst="rect">
            <a:avLst/>
          </a:prstGeom>
          <a:noFill/>
        </p:spPr>
        <p:txBody>
          <a:bodyPr wrap="square" lIns="0" tIns="0" rIns="0" bIns="0" anchor="t">
            <a:noAutofit/>
          </a:bodyPr>
          <a:lstStyle/>
          <a:p>
            <a:pPr algn="l">
              <a:lnSpc>
                <a:spcPct val="100000"/>
              </a:lnSpc>
              <a:spcBef>
                <a:spcPts val="0"/>
              </a:spcBef>
              <a:spcAft>
                <a:spcPts val="0"/>
              </a:spcAft>
            </a:pPr>
            <a:r>
              <a:rPr sz="1500" b="0">
                <a:solidFill>
                  <a:srgbClr val="58CFD1"/>
                </a:solidFill>
                <a:latin typeface="Arial"/>
              </a:rPr>
              <a:t>TITLE  &gt;  FLIGHT / EVACUATION  &gt;  BREACH / HARVESTER LOSS  &gt;  EXTRACTION  &gt;  DEBRIEF / RETRY / NEXT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181E"/>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252728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1">
                <a:solidFill>
                  <a:srgbClr val="D5A45E"/>
                </a:solidFill>
                <a:latin typeface="Arial"/>
              </a:rPr>
              <a:t>CONTROLLABILITY AND CAMERA MOVEMENT</a:t>
            </a:r>
          </a:p>
        </p:txBody>
      </p:sp>
      <p:sp>
        <p:nvSpPr>
          <p:cNvPr id="3" name="TextBox 2"/>
          <p:cNvSpPr txBox="1"/>
          <p:nvPr/>
        </p:nvSpPr>
        <p:spPr>
          <a:xfrm>
            <a:off x="548640" y="694944"/>
            <a:ext cx="13350240" cy="594360"/>
          </a:xfrm>
          <a:prstGeom prst="rect">
            <a:avLst/>
          </a:prstGeom>
          <a:noFill/>
        </p:spPr>
        <p:txBody>
          <a:bodyPr wrap="square" lIns="0" tIns="0" rIns="0" bIns="0" anchor="t">
            <a:noAutofit/>
          </a:bodyPr>
          <a:lstStyle/>
          <a:p>
            <a:pPr algn="l">
              <a:lnSpc>
                <a:spcPct val="100000"/>
              </a:lnSpc>
              <a:spcBef>
                <a:spcPts val="0"/>
              </a:spcBef>
              <a:spcAft>
                <a:spcPts val="0"/>
              </a:spcAft>
            </a:pPr>
            <a:r>
              <a:rPr sz="3600" b="1" dirty="0">
                <a:solidFill>
                  <a:srgbClr val="F0E9DA"/>
                </a:solidFill>
                <a:latin typeface="Bahnschrift"/>
              </a:rPr>
              <a:t>Game-like controls / Fly, inspect, rescue</a:t>
            </a:r>
          </a:p>
        </p:txBody>
      </p:sp>
      <p:sp>
        <p:nvSpPr>
          <p:cNvPr id="4" name="TextBox 3"/>
          <p:cNvSpPr txBox="1"/>
          <p:nvPr/>
        </p:nvSpPr>
        <p:spPr>
          <a:xfrm>
            <a:off x="566928" y="1316736"/>
            <a:ext cx="13441680" cy="329184"/>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ACB9BA"/>
                </a:solidFill>
                <a:latin typeface="Arial"/>
              </a:rPr>
              <a:t>The aircraft and the mission respond to input; changing view does not change the aircraft's heading.</a:t>
            </a:r>
          </a:p>
        </p:txBody>
      </p:sp>
      <p:cxnSp>
        <p:nvCxnSpPr>
          <p:cNvPr id="5" name="Connector 4"/>
          <p:cNvCxnSpPr/>
          <p:nvPr/>
        </p:nvCxnSpPr>
        <p:spPr>
          <a:xfrm>
            <a:off x="548640" y="7772400"/>
            <a:ext cx="13533120" cy="0"/>
          </a:xfrm>
          <a:prstGeom prst="line">
            <a:avLst/>
          </a:prstGeom>
          <a:ln w="12700">
            <a:solidFill>
              <a:srgbClr val="42545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7900416"/>
            <a:ext cx="11338560" cy="219456"/>
          </a:xfrm>
          <a:prstGeom prst="rect">
            <a:avLst/>
          </a:prstGeom>
          <a:noFill/>
        </p:spPr>
        <p:txBody>
          <a:bodyPr wrap="square" lIns="0" tIns="0" rIns="0" bIns="0" anchor="t">
            <a:noAutofit/>
          </a:bodyPr>
          <a:lstStyle/>
          <a:p>
            <a:pPr algn="l">
              <a:lnSpc>
                <a:spcPct val="100000"/>
              </a:lnSpc>
              <a:spcBef>
                <a:spcPts val="0"/>
              </a:spcBef>
              <a:spcAft>
                <a:spcPts val="0"/>
              </a:spcAft>
            </a:pPr>
            <a:r>
              <a:rPr sz="1000" b="0">
                <a:solidFill>
                  <a:srgbClr val="ACB9BA"/>
                </a:solidFill>
                <a:latin typeface="Arial"/>
              </a:rPr>
              <a:t>ARRAKIS / HARVESTER DOWN     |     ASIQUE EHETASAMUL HAQUE     |     CSE 4102</a:t>
            </a:r>
          </a:p>
        </p:txBody>
      </p:sp>
      <p:sp>
        <p:nvSpPr>
          <p:cNvPr id="7" name="TextBox 6"/>
          <p:cNvSpPr txBox="1"/>
          <p:nvPr/>
        </p:nvSpPr>
        <p:spPr>
          <a:xfrm>
            <a:off x="13167360" y="7863840"/>
            <a:ext cx="914400" cy="274320"/>
          </a:xfrm>
          <a:prstGeom prst="rect">
            <a:avLst/>
          </a:prstGeom>
          <a:noFill/>
        </p:spPr>
        <p:txBody>
          <a:bodyPr wrap="square" lIns="0" tIns="0" rIns="0" bIns="0" anchor="t">
            <a:noAutofit/>
          </a:bodyPr>
          <a:lstStyle/>
          <a:p>
            <a:pPr algn="r">
              <a:lnSpc>
                <a:spcPct val="100000"/>
              </a:lnSpc>
              <a:spcBef>
                <a:spcPts val="0"/>
              </a:spcBef>
              <a:spcAft>
                <a:spcPts val="0"/>
              </a:spcAft>
            </a:pPr>
            <a:r>
              <a:rPr sz="1300" b="1">
                <a:solidFill>
                  <a:srgbClr val="D5A45E"/>
                </a:solidFill>
                <a:latin typeface="Arial"/>
              </a:rPr>
              <a:t>07 / 10</a:t>
            </a:r>
          </a:p>
        </p:txBody>
      </p:sp>
      <p:sp>
        <p:nvSpPr>
          <p:cNvPr id="8" name="TextBox 7"/>
          <p:cNvSpPr txBox="1"/>
          <p:nvPr/>
        </p:nvSpPr>
        <p:spPr>
          <a:xfrm>
            <a:off x="548640" y="1892807"/>
            <a:ext cx="6400800" cy="320040"/>
          </a:xfrm>
          <a:prstGeom prst="rect">
            <a:avLst/>
          </a:prstGeom>
          <a:noFill/>
        </p:spPr>
        <p:txBody>
          <a:bodyPr wrap="square" lIns="0" tIns="0" rIns="0" bIns="0" anchor="t">
            <a:noAutofit/>
          </a:bodyPr>
          <a:lstStyle/>
          <a:p>
            <a:pPr algn="l">
              <a:lnSpc>
                <a:spcPct val="100000"/>
              </a:lnSpc>
              <a:spcBef>
                <a:spcPts val="0"/>
              </a:spcBef>
              <a:spcAft>
                <a:spcPts val="0"/>
              </a:spcAft>
            </a:pPr>
            <a:r>
              <a:rPr sz="2100" b="1">
                <a:solidFill>
                  <a:srgbClr val="D5A45E"/>
                </a:solidFill>
                <a:latin typeface="Arial"/>
              </a:rPr>
              <a:t>FLIGHT INPUT</a:t>
            </a:r>
          </a:p>
        </p:txBody>
      </p:sp>
      <p:sp>
        <p:nvSpPr>
          <p:cNvPr id="9" name="Rectangle 8"/>
          <p:cNvSpPr/>
          <p:nvPr/>
        </p:nvSpPr>
        <p:spPr>
          <a:xfrm>
            <a:off x="548640" y="2404872"/>
            <a:ext cx="1207008" cy="384048"/>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478024"/>
            <a:ext cx="1042415" cy="246888"/>
          </a:xfrm>
          <a:prstGeom prst="rect">
            <a:avLst/>
          </a:prstGeom>
          <a:noFill/>
        </p:spPr>
        <p:txBody>
          <a:bodyPr wrap="square" lIns="0" tIns="0" rIns="0" bIns="0" anchor="t">
            <a:noAutofit/>
          </a:bodyPr>
          <a:lstStyle/>
          <a:p>
            <a:pPr algn="l">
              <a:lnSpc>
                <a:spcPct val="100000"/>
              </a:lnSpc>
              <a:spcBef>
                <a:spcPts val="0"/>
              </a:spcBef>
              <a:spcAft>
                <a:spcPts val="0"/>
              </a:spcAft>
            </a:pPr>
            <a:r>
              <a:rPr sz="1600" b="1">
                <a:solidFill>
                  <a:srgbClr val="58CFD1"/>
                </a:solidFill>
                <a:latin typeface="Arial"/>
              </a:rPr>
              <a:t>W / S</a:t>
            </a:r>
          </a:p>
        </p:txBody>
      </p:sp>
      <p:sp>
        <p:nvSpPr>
          <p:cNvPr id="11" name="TextBox 10"/>
          <p:cNvSpPr txBox="1"/>
          <p:nvPr/>
        </p:nvSpPr>
        <p:spPr>
          <a:xfrm>
            <a:off x="1920240" y="2478024"/>
            <a:ext cx="5394960" cy="393192"/>
          </a:xfrm>
          <a:prstGeom prst="rect">
            <a:avLst/>
          </a:prstGeom>
          <a:noFill/>
        </p:spPr>
        <p:txBody>
          <a:bodyPr wrap="square" lIns="0" tIns="0" rIns="0" bIns="0" anchor="t">
            <a:noAutofit/>
          </a:bodyPr>
          <a:lstStyle/>
          <a:p>
            <a:pPr algn="l">
              <a:lnSpc>
                <a:spcPct val="100000"/>
              </a:lnSpc>
              <a:spcBef>
                <a:spcPts val="0"/>
              </a:spcBef>
              <a:spcAft>
                <a:spcPts val="0"/>
              </a:spcAft>
            </a:pPr>
            <a:r>
              <a:rPr sz="1700" b="0">
                <a:solidFill>
                  <a:srgbClr val="F0E9DA"/>
                </a:solidFill>
                <a:latin typeface="Arial"/>
              </a:rPr>
              <a:t>Forward / reverse thrust</a:t>
            </a:r>
          </a:p>
        </p:txBody>
      </p:sp>
      <p:sp>
        <p:nvSpPr>
          <p:cNvPr id="12" name="Rectangle 11"/>
          <p:cNvSpPr/>
          <p:nvPr/>
        </p:nvSpPr>
        <p:spPr>
          <a:xfrm>
            <a:off x="548640" y="2935224"/>
            <a:ext cx="1207008" cy="384048"/>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008376"/>
            <a:ext cx="1042415" cy="246888"/>
          </a:xfrm>
          <a:prstGeom prst="rect">
            <a:avLst/>
          </a:prstGeom>
          <a:noFill/>
        </p:spPr>
        <p:txBody>
          <a:bodyPr wrap="square" lIns="0" tIns="0" rIns="0" bIns="0" anchor="t">
            <a:noAutofit/>
          </a:bodyPr>
          <a:lstStyle/>
          <a:p>
            <a:pPr algn="l">
              <a:lnSpc>
                <a:spcPct val="100000"/>
              </a:lnSpc>
              <a:spcBef>
                <a:spcPts val="0"/>
              </a:spcBef>
              <a:spcAft>
                <a:spcPts val="0"/>
              </a:spcAft>
            </a:pPr>
            <a:r>
              <a:rPr sz="1600" b="1">
                <a:solidFill>
                  <a:srgbClr val="58CFD1"/>
                </a:solidFill>
                <a:latin typeface="Arial"/>
              </a:rPr>
              <a:t>A / D</a:t>
            </a:r>
          </a:p>
        </p:txBody>
      </p:sp>
      <p:sp>
        <p:nvSpPr>
          <p:cNvPr id="14" name="TextBox 13"/>
          <p:cNvSpPr txBox="1"/>
          <p:nvPr/>
        </p:nvSpPr>
        <p:spPr>
          <a:xfrm>
            <a:off x="1920240" y="3008376"/>
            <a:ext cx="5394960" cy="393192"/>
          </a:xfrm>
          <a:prstGeom prst="rect">
            <a:avLst/>
          </a:prstGeom>
          <a:noFill/>
        </p:spPr>
        <p:txBody>
          <a:bodyPr wrap="square" lIns="0" tIns="0" rIns="0" bIns="0" anchor="t">
            <a:noAutofit/>
          </a:bodyPr>
          <a:lstStyle/>
          <a:p>
            <a:pPr algn="l">
              <a:lnSpc>
                <a:spcPct val="100000"/>
              </a:lnSpc>
              <a:spcBef>
                <a:spcPts val="0"/>
              </a:spcBef>
              <a:spcAft>
                <a:spcPts val="0"/>
              </a:spcAft>
            </a:pPr>
            <a:r>
              <a:rPr sz="1700" b="0">
                <a:solidFill>
                  <a:srgbClr val="F0E9DA"/>
                </a:solidFill>
                <a:latin typeface="Arial"/>
              </a:rPr>
              <a:t>Strafe without turning the nose</a:t>
            </a:r>
          </a:p>
        </p:txBody>
      </p:sp>
      <p:sp>
        <p:nvSpPr>
          <p:cNvPr id="15" name="Rectangle 14"/>
          <p:cNvSpPr/>
          <p:nvPr/>
        </p:nvSpPr>
        <p:spPr>
          <a:xfrm>
            <a:off x="548640" y="3465576"/>
            <a:ext cx="1207008" cy="384048"/>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3538728"/>
            <a:ext cx="1042415" cy="246888"/>
          </a:xfrm>
          <a:prstGeom prst="rect">
            <a:avLst/>
          </a:prstGeom>
          <a:noFill/>
        </p:spPr>
        <p:txBody>
          <a:bodyPr wrap="square" lIns="0" tIns="0" rIns="0" bIns="0" anchor="t">
            <a:noAutofit/>
          </a:bodyPr>
          <a:lstStyle/>
          <a:p>
            <a:pPr algn="l">
              <a:lnSpc>
                <a:spcPct val="100000"/>
              </a:lnSpc>
              <a:spcBef>
                <a:spcPts val="0"/>
              </a:spcBef>
              <a:spcAft>
                <a:spcPts val="0"/>
              </a:spcAft>
            </a:pPr>
            <a:r>
              <a:rPr sz="1600" b="1">
                <a:solidFill>
                  <a:srgbClr val="58CFD1"/>
                </a:solidFill>
                <a:latin typeface="Arial"/>
              </a:rPr>
              <a:t>Q / E</a:t>
            </a:r>
          </a:p>
        </p:txBody>
      </p:sp>
      <p:sp>
        <p:nvSpPr>
          <p:cNvPr id="17" name="TextBox 16"/>
          <p:cNvSpPr txBox="1"/>
          <p:nvPr/>
        </p:nvSpPr>
        <p:spPr>
          <a:xfrm>
            <a:off x="1920240" y="3538728"/>
            <a:ext cx="5394960" cy="393192"/>
          </a:xfrm>
          <a:prstGeom prst="rect">
            <a:avLst/>
          </a:prstGeom>
          <a:noFill/>
        </p:spPr>
        <p:txBody>
          <a:bodyPr wrap="square" lIns="0" tIns="0" rIns="0" bIns="0" anchor="t">
            <a:noAutofit/>
          </a:bodyPr>
          <a:lstStyle/>
          <a:p>
            <a:pPr algn="l">
              <a:lnSpc>
                <a:spcPct val="100000"/>
              </a:lnSpc>
              <a:spcBef>
                <a:spcPts val="0"/>
              </a:spcBef>
              <a:spcAft>
                <a:spcPts val="0"/>
              </a:spcAft>
            </a:pPr>
            <a:r>
              <a:rPr sz="1700" b="0">
                <a:solidFill>
                  <a:srgbClr val="F0E9DA"/>
                </a:solidFill>
                <a:latin typeface="Arial"/>
              </a:rPr>
              <a:t>Raise / lower terrain-following altitude</a:t>
            </a:r>
          </a:p>
        </p:txBody>
      </p:sp>
      <p:sp>
        <p:nvSpPr>
          <p:cNvPr id="18" name="Rectangle 17"/>
          <p:cNvSpPr/>
          <p:nvPr/>
        </p:nvSpPr>
        <p:spPr>
          <a:xfrm>
            <a:off x="548640" y="3995928"/>
            <a:ext cx="1207008" cy="384048"/>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4069080"/>
            <a:ext cx="1042415" cy="246888"/>
          </a:xfrm>
          <a:prstGeom prst="rect">
            <a:avLst/>
          </a:prstGeom>
          <a:noFill/>
        </p:spPr>
        <p:txBody>
          <a:bodyPr wrap="square" lIns="0" tIns="0" rIns="0" bIns="0" anchor="t">
            <a:noAutofit/>
          </a:bodyPr>
          <a:lstStyle/>
          <a:p>
            <a:pPr algn="l">
              <a:lnSpc>
                <a:spcPct val="100000"/>
              </a:lnSpc>
              <a:spcBef>
                <a:spcPts val="0"/>
              </a:spcBef>
              <a:spcAft>
                <a:spcPts val="0"/>
              </a:spcAft>
            </a:pPr>
            <a:r>
              <a:rPr sz="1600" b="1">
                <a:solidFill>
                  <a:srgbClr val="58CFD1"/>
                </a:solidFill>
                <a:latin typeface="Arial"/>
              </a:rPr>
              <a:t>MOUSE</a:t>
            </a:r>
          </a:p>
        </p:txBody>
      </p:sp>
      <p:sp>
        <p:nvSpPr>
          <p:cNvPr id="20" name="TextBox 19"/>
          <p:cNvSpPr txBox="1"/>
          <p:nvPr/>
        </p:nvSpPr>
        <p:spPr>
          <a:xfrm>
            <a:off x="1920240" y="4069080"/>
            <a:ext cx="5394960" cy="393192"/>
          </a:xfrm>
          <a:prstGeom prst="rect">
            <a:avLst/>
          </a:prstGeom>
          <a:noFill/>
        </p:spPr>
        <p:txBody>
          <a:bodyPr wrap="square" lIns="0" tIns="0" rIns="0" bIns="0" anchor="t">
            <a:noAutofit/>
          </a:bodyPr>
          <a:lstStyle/>
          <a:p>
            <a:pPr algn="l">
              <a:lnSpc>
                <a:spcPct val="100000"/>
              </a:lnSpc>
              <a:spcBef>
                <a:spcPts val="0"/>
              </a:spcBef>
              <a:spcAft>
                <a:spcPts val="0"/>
              </a:spcAft>
            </a:pPr>
            <a:r>
              <a:rPr sz="1700" b="0">
                <a:solidFill>
                  <a:srgbClr val="F0E9DA"/>
                </a:solidFill>
                <a:latin typeface="Arial"/>
              </a:rPr>
              <a:t>Hover steers yaw + camera pitch; centre dead zone</a:t>
            </a:r>
          </a:p>
        </p:txBody>
      </p:sp>
      <p:sp>
        <p:nvSpPr>
          <p:cNvPr id="21" name="Rectangle 20"/>
          <p:cNvSpPr/>
          <p:nvPr/>
        </p:nvSpPr>
        <p:spPr>
          <a:xfrm>
            <a:off x="548640" y="4526280"/>
            <a:ext cx="1207008" cy="384048"/>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599432"/>
            <a:ext cx="1042415" cy="246888"/>
          </a:xfrm>
          <a:prstGeom prst="rect">
            <a:avLst/>
          </a:prstGeom>
          <a:noFill/>
        </p:spPr>
        <p:txBody>
          <a:bodyPr wrap="square" lIns="0" tIns="0" rIns="0" bIns="0" anchor="t">
            <a:noAutofit/>
          </a:bodyPr>
          <a:lstStyle/>
          <a:p>
            <a:pPr algn="l">
              <a:lnSpc>
                <a:spcPct val="100000"/>
              </a:lnSpc>
              <a:spcBef>
                <a:spcPts val="0"/>
              </a:spcBef>
              <a:spcAft>
                <a:spcPts val="0"/>
              </a:spcAft>
            </a:pPr>
            <a:r>
              <a:rPr sz="1600" b="1">
                <a:solidFill>
                  <a:srgbClr val="58CFD1"/>
                </a:solidFill>
                <a:latin typeface="Arial"/>
              </a:rPr>
              <a:t>ARROWS</a:t>
            </a:r>
          </a:p>
        </p:txBody>
      </p:sp>
      <p:sp>
        <p:nvSpPr>
          <p:cNvPr id="23" name="TextBox 22"/>
          <p:cNvSpPr txBox="1"/>
          <p:nvPr/>
        </p:nvSpPr>
        <p:spPr>
          <a:xfrm>
            <a:off x="1920240" y="4599432"/>
            <a:ext cx="5394960" cy="393192"/>
          </a:xfrm>
          <a:prstGeom prst="rect">
            <a:avLst/>
          </a:prstGeom>
          <a:noFill/>
        </p:spPr>
        <p:txBody>
          <a:bodyPr wrap="square" lIns="0" tIns="0" rIns="0" bIns="0" anchor="t">
            <a:noAutofit/>
          </a:bodyPr>
          <a:lstStyle/>
          <a:p>
            <a:pPr algn="l">
              <a:lnSpc>
                <a:spcPct val="100000"/>
              </a:lnSpc>
              <a:spcBef>
                <a:spcPts val="0"/>
              </a:spcBef>
              <a:spcAft>
                <a:spcPts val="0"/>
              </a:spcAft>
            </a:pPr>
            <a:r>
              <a:rPr sz="1700" b="0">
                <a:solidFill>
                  <a:srgbClr val="F0E9DA"/>
                </a:solidFill>
                <a:latin typeface="Arial"/>
              </a:rPr>
              <a:t>Left/right turn; up/down camera elevation</a:t>
            </a:r>
          </a:p>
        </p:txBody>
      </p:sp>
      <p:sp>
        <p:nvSpPr>
          <p:cNvPr id="24" name="Rectangle 23"/>
          <p:cNvSpPr/>
          <p:nvPr/>
        </p:nvSpPr>
        <p:spPr>
          <a:xfrm>
            <a:off x="548640" y="5056632"/>
            <a:ext cx="1207008" cy="384048"/>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5129784"/>
            <a:ext cx="1042415" cy="246888"/>
          </a:xfrm>
          <a:prstGeom prst="rect">
            <a:avLst/>
          </a:prstGeom>
          <a:noFill/>
        </p:spPr>
        <p:txBody>
          <a:bodyPr wrap="square" lIns="0" tIns="0" rIns="0" bIns="0" anchor="t">
            <a:noAutofit/>
          </a:bodyPr>
          <a:lstStyle/>
          <a:p>
            <a:pPr algn="l">
              <a:lnSpc>
                <a:spcPct val="100000"/>
              </a:lnSpc>
              <a:spcBef>
                <a:spcPts val="0"/>
              </a:spcBef>
              <a:spcAft>
                <a:spcPts val="0"/>
              </a:spcAft>
            </a:pPr>
            <a:r>
              <a:rPr sz="1600" b="1">
                <a:solidFill>
                  <a:srgbClr val="58CFD1"/>
                </a:solidFill>
                <a:latin typeface="Arial"/>
              </a:rPr>
              <a:t>SHIFT</a:t>
            </a:r>
          </a:p>
        </p:txBody>
      </p:sp>
      <p:sp>
        <p:nvSpPr>
          <p:cNvPr id="26" name="TextBox 25"/>
          <p:cNvSpPr txBox="1"/>
          <p:nvPr/>
        </p:nvSpPr>
        <p:spPr>
          <a:xfrm>
            <a:off x="1920240" y="5129784"/>
            <a:ext cx="5394960" cy="393192"/>
          </a:xfrm>
          <a:prstGeom prst="rect">
            <a:avLst/>
          </a:prstGeom>
          <a:noFill/>
        </p:spPr>
        <p:txBody>
          <a:bodyPr wrap="square" lIns="0" tIns="0" rIns="0" bIns="0" anchor="t">
            <a:noAutofit/>
          </a:bodyPr>
          <a:lstStyle/>
          <a:p>
            <a:pPr algn="l">
              <a:lnSpc>
                <a:spcPct val="100000"/>
              </a:lnSpc>
              <a:spcBef>
                <a:spcPts val="0"/>
              </a:spcBef>
              <a:spcAft>
                <a:spcPts val="0"/>
              </a:spcAft>
            </a:pPr>
            <a:r>
              <a:rPr sz="1700" b="0">
                <a:solidFill>
                  <a:srgbClr val="F0E9DA"/>
                </a:solidFill>
                <a:latin typeface="Arial"/>
              </a:rPr>
              <a:t>Rechargeable boost; release after depletion</a:t>
            </a:r>
          </a:p>
        </p:txBody>
      </p:sp>
      <p:sp>
        <p:nvSpPr>
          <p:cNvPr id="27" name="Rectangle 26"/>
          <p:cNvSpPr/>
          <p:nvPr/>
        </p:nvSpPr>
        <p:spPr>
          <a:xfrm>
            <a:off x="548640" y="5586984"/>
            <a:ext cx="1207008" cy="384048"/>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5660136"/>
            <a:ext cx="1042415" cy="246888"/>
          </a:xfrm>
          <a:prstGeom prst="rect">
            <a:avLst/>
          </a:prstGeom>
          <a:noFill/>
        </p:spPr>
        <p:txBody>
          <a:bodyPr wrap="square" lIns="0" tIns="0" rIns="0" bIns="0" anchor="t">
            <a:noAutofit/>
          </a:bodyPr>
          <a:lstStyle/>
          <a:p>
            <a:pPr algn="l">
              <a:lnSpc>
                <a:spcPct val="100000"/>
              </a:lnSpc>
              <a:spcBef>
                <a:spcPts val="0"/>
              </a:spcBef>
              <a:spcAft>
                <a:spcPts val="0"/>
              </a:spcAft>
            </a:pPr>
            <a:r>
              <a:rPr sz="1600" b="1">
                <a:solidFill>
                  <a:srgbClr val="58CFD1"/>
                </a:solidFill>
                <a:latin typeface="Arial"/>
              </a:rPr>
              <a:t>SPACE</a:t>
            </a:r>
          </a:p>
        </p:txBody>
      </p:sp>
      <p:sp>
        <p:nvSpPr>
          <p:cNvPr id="29" name="TextBox 28"/>
          <p:cNvSpPr txBox="1"/>
          <p:nvPr/>
        </p:nvSpPr>
        <p:spPr>
          <a:xfrm>
            <a:off x="1920240" y="5660136"/>
            <a:ext cx="5394960" cy="393192"/>
          </a:xfrm>
          <a:prstGeom prst="rect">
            <a:avLst/>
          </a:prstGeom>
          <a:noFill/>
        </p:spPr>
        <p:txBody>
          <a:bodyPr wrap="square" lIns="0" tIns="0" rIns="0" bIns="0" anchor="t">
            <a:noAutofit/>
          </a:bodyPr>
          <a:lstStyle/>
          <a:p>
            <a:pPr algn="l">
              <a:lnSpc>
                <a:spcPct val="100000"/>
              </a:lnSpc>
              <a:spcBef>
                <a:spcPts val="0"/>
              </a:spcBef>
              <a:spcAft>
                <a:spcPts val="0"/>
              </a:spcAft>
            </a:pPr>
            <a:r>
              <a:rPr sz="1700" b="0">
                <a:solidFill>
                  <a:srgbClr val="F0E9DA"/>
                </a:solidFill>
                <a:latin typeface="Arial"/>
              </a:rPr>
              <a:t>Brake + descend + winch / unload</a:t>
            </a:r>
          </a:p>
        </p:txBody>
      </p:sp>
      <p:sp>
        <p:nvSpPr>
          <p:cNvPr id="30" name="TextBox 29"/>
          <p:cNvSpPr txBox="1"/>
          <p:nvPr/>
        </p:nvSpPr>
        <p:spPr>
          <a:xfrm>
            <a:off x="548640" y="6409944"/>
            <a:ext cx="6739128" cy="804672"/>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ACB9BA"/>
                </a:solidFill>
                <a:latin typeface="Arial"/>
              </a:rPr>
              <a:t>Safety: altitude 4-55; rock/harvester clearance help.</a:t>
            </a:r>
          </a:p>
          <a:p>
            <a:pPr algn="l">
              <a:lnSpc>
                <a:spcPct val="100000"/>
              </a:lnSpc>
              <a:spcBef>
                <a:spcPts val="0"/>
              </a:spcBef>
              <a:spcAft>
                <a:spcPts val="0"/>
              </a:spcAft>
            </a:pPr>
            <a:r>
              <a:rPr sz="1600" b="0">
                <a:solidFill>
                  <a:srgbClr val="ACB9BA"/>
                </a:solidFill>
                <a:latin typeface="Arial"/>
              </a:rPr>
              <a:t>Focus loss pauses and clears held input; reset/resize</a:t>
            </a:r>
          </a:p>
          <a:p>
            <a:pPr algn="l">
              <a:lnSpc>
                <a:spcPct val="100000"/>
              </a:lnSpc>
              <a:spcBef>
                <a:spcPts val="0"/>
              </a:spcBef>
              <a:spcAft>
                <a:spcPts val="0"/>
              </a:spcAft>
            </a:pPr>
            <a:r>
              <a:rPr sz="1600" b="0">
                <a:solidFill>
                  <a:srgbClr val="ACB9BA"/>
                </a:solidFill>
                <a:latin typeface="Arial"/>
              </a:rPr>
              <a:t>recentres the cursor. Movement stays inside +/-160.</a:t>
            </a:r>
          </a:p>
        </p:txBody>
      </p:sp>
      <p:sp>
        <p:nvSpPr>
          <p:cNvPr id="31" name="TextBox 30"/>
          <p:cNvSpPr txBox="1"/>
          <p:nvPr/>
        </p:nvSpPr>
        <p:spPr>
          <a:xfrm>
            <a:off x="7726679" y="1892807"/>
            <a:ext cx="6217920" cy="320040"/>
          </a:xfrm>
          <a:prstGeom prst="rect">
            <a:avLst/>
          </a:prstGeom>
          <a:noFill/>
        </p:spPr>
        <p:txBody>
          <a:bodyPr wrap="square" lIns="0" tIns="0" rIns="0" bIns="0" anchor="t">
            <a:noAutofit/>
          </a:bodyPr>
          <a:lstStyle/>
          <a:p>
            <a:pPr algn="l">
              <a:lnSpc>
                <a:spcPct val="100000"/>
              </a:lnSpc>
              <a:spcBef>
                <a:spcPts val="0"/>
              </a:spcBef>
              <a:spcAft>
                <a:spcPts val="0"/>
              </a:spcAft>
            </a:pPr>
            <a:r>
              <a:rPr sz="2000" b="1">
                <a:solidFill>
                  <a:srgbClr val="58CFD1"/>
                </a:solidFill>
                <a:latin typeface="Arial"/>
              </a:rPr>
              <a:t>C / THREE HEADING-FOLLOWING VIEWS</a:t>
            </a:r>
          </a:p>
        </p:txBody>
      </p:sp>
      <p:pic>
        <p:nvPicPr>
          <p:cNvPr id="32" name="Picture 31" descr="camera_0.png"/>
          <p:cNvPicPr>
            <a:picLocks noChangeAspect="1"/>
          </p:cNvPicPr>
          <p:nvPr/>
        </p:nvPicPr>
        <p:blipFill>
          <a:blip r:embed="rId3"/>
          <a:srcRect l="6295" r="6295"/>
          <a:stretch>
            <a:fillRect/>
          </a:stretch>
        </p:blipFill>
        <p:spPr>
          <a:xfrm>
            <a:off x="7726679" y="2377440"/>
            <a:ext cx="1975104" cy="1271016"/>
          </a:xfrm>
          <a:prstGeom prst="rect">
            <a:avLst/>
          </a:prstGeom>
        </p:spPr>
      </p:pic>
      <p:sp>
        <p:nvSpPr>
          <p:cNvPr id="33" name="TextBox 32"/>
          <p:cNvSpPr txBox="1"/>
          <p:nvPr/>
        </p:nvSpPr>
        <p:spPr>
          <a:xfrm>
            <a:off x="7726679" y="3749039"/>
            <a:ext cx="2011680" cy="292608"/>
          </a:xfrm>
          <a:prstGeom prst="rect">
            <a:avLst/>
          </a:prstGeom>
          <a:noFill/>
        </p:spPr>
        <p:txBody>
          <a:bodyPr wrap="square" lIns="0" tIns="0" rIns="0" bIns="0" anchor="t">
            <a:noAutofit/>
          </a:bodyPr>
          <a:lstStyle/>
          <a:p>
            <a:pPr algn="l">
              <a:lnSpc>
                <a:spcPct val="100000"/>
              </a:lnSpc>
              <a:spcBef>
                <a:spcPts val="0"/>
              </a:spcBef>
              <a:spcAft>
                <a:spcPts val="0"/>
              </a:spcAft>
            </a:pPr>
            <a:r>
              <a:rPr sz="1300" b="1">
                <a:solidFill>
                  <a:srgbClr val="D5A45E"/>
                </a:solidFill>
                <a:latin typeface="Arial"/>
              </a:rPr>
              <a:t>WIDE / 40</a:t>
            </a:r>
          </a:p>
        </p:txBody>
      </p:sp>
      <p:pic>
        <p:nvPicPr>
          <p:cNvPr id="34" name="Picture 33" descr="camera_1.png"/>
          <p:cNvPicPr>
            <a:picLocks noChangeAspect="1"/>
          </p:cNvPicPr>
          <p:nvPr/>
        </p:nvPicPr>
        <p:blipFill>
          <a:blip r:embed="rId4"/>
          <a:srcRect l="6295" r="6295"/>
          <a:stretch>
            <a:fillRect/>
          </a:stretch>
        </p:blipFill>
        <p:spPr>
          <a:xfrm>
            <a:off x="9866376" y="2377440"/>
            <a:ext cx="1975104" cy="1271016"/>
          </a:xfrm>
          <a:prstGeom prst="rect">
            <a:avLst/>
          </a:prstGeom>
        </p:spPr>
      </p:pic>
      <p:sp>
        <p:nvSpPr>
          <p:cNvPr id="35" name="TextBox 34"/>
          <p:cNvSpPr txBox="1"/>
          <p:nvPr/>
        </p:nvSpPr>
        <p:spPr>
          <a:xfrm>
            <a:off x="9866376" y="3749039"/>
            <a:ext cx="2011680" cy="292608"/>
          </a:xfrm>
          <a:prstGeom prst="rect">
            <a:avLst/>
          </a:prstGeom>
          <a:noFill/>
        </p:spPr>
        <p:txBody>
          <a:bodyPr wrap="square" lIns="0" tIns="0" rIns="0" bIns="0" anchor="t">
            <a:noAutofit/>
          </a:bodyPr>
          <a:lstStyle/>
          <a:p>
            <a:pPr algn="l">
              <a:lnSpc>
                <a:spcPct val="100000"/>
              </a:lnSpc>
              <a:spcBef>
                <a:spcPts val="0"/>
              </a:spcBef>
              <a:spcAft>
                <a:spcPts val="0"/>
              </a:spcAft>
            </a:pPr>
            <a:r>
              <a:rPr sz="1300" b="1">
                <a:solidFill>
                  <a:srgbClr val="D5A45E"/>
                </a:solidFill>
                <a:latin typeface="Arial"/>
              </a:rPr>
              <a:t>CLOSE / 20</a:t>
            </a:r>
          </a:p>
        </p:txBody>
      </p:sp>
      <p:pic>
        <p:nvPicPr>
          <p:cNvPr id="36" name="Picture 35" descr="camera_2.png"/>
          <p:cNvPicPr>
            <a:picLocks noChangeAspect="1"/>
          </p:cNvPicPr>
          <p:nvPr/>
        </p:nvPicPr>
        <p:blipFill>
          <a:blip r:embed="rId5"/>
          <a:srcRect l="6295" r="6295"/>
          <a:stretch>
            <a:fillRect/>
          </a:stretch>
        </p:blipFill>
        <p:spPr>
          <a:xfrm>
            <a:off x="12006072" y="2377440"/>
            <a:ext cx="1975104" cy="1271016"/>
          </a:xfrm>
          <a:prstGeom prst="rect">
            <a:avLst/>
          </a:prstGeom>
        </p:spPr>
      </p:pic>
      <p:sp>
        <p:nvSpPr>
          <p:cNvPr id="37" name="TextBox 36"/>
          <p:cNvSpPr txBox="1"/>
          <p:nvPr/>
        </p:nvSpPr>
        <p:spPr>
          <a:xfrm>
            <a:off x="12006072" y="3749039"/>
            <a:ext cx="2011680" cy="292608"/>
          </a:xfrm>
          <a:prstGeom prst="rect">
            <a:avLst/>
          </a:prstGeom>
          <a:noFill/>
        </p:spPr>
        <p:txBody>
          <a:bodyPr wrap="square" lIns="0" tIns="0" rIns="0" bIns="0" anchor="t">
            <a:noAutofit/>
          </a:bodyPr>
          <a:lstStyle/>
          <a:p>
            <a:pPr algn="l">
              <a:lnSpc>
                <a:spcPct val="100000"/>
              </a:lnSpc>
              <a:spcBef>
                <a:spcPts val="0"/>
              </a:spcBef>
              <a:spcAft>
                <a:spcPts val="0"/>
              </a:spcAft>
            </a:pPr>
            <a:r>
              <a:rPr sz="1300" b="1">
                <a:solidFill>
                  <a:srgbClr val="D5A45E"/>
                </a:solidFill>
                <a:latin typeface="Arial"/>
              </a:rPr>
              <a:t>TACTICAL / 100 UP</a:t>
            </a:r>
          </a:p>
        </p:txBody>
      </p:sp>
      <p:sp>
        <p:nvSpPr>
          <p:cNvPr id="38" name="TextBox 37"/>
          <p:cNvSpPr txBox="1"/>
          <p:nvPr/>
        </p:nvSpPr>
        <p:spPr>
          <a:xfrm>
            <a:off x="7726679" y="4151376"/>
            <a:ext cx="6217920" cy="493776"/>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ACB9BA"/>
                </a:solidFill>
                <a:latin typeface="Arial"/>
              </a:rPr>
              <a:t>Smooth follow + terrain-safe eye; 58-degree perspective.</a:t>
            </a:r>
          </a:p>
          <a:p>
            <a:pPr algn="l">
              <a:lnSpc>
                <a:spcPct val="100000"/>
              </a:lnSpc>
              <a:spcBef>
                <a:spcPts val="0"/>
              </a:spcBef>
              <a:spcAft>
                <a:spcPts val="0"/>
              </a:spcAft>
            </a:pPr>
            <a:r>
              <a:rPr sz="1600" b="0">
                <a:solidFill>
                  <a:srgbClr val="ACB9BA"/>
                </a:solidFill>
                <a:latin typeface="Arial"/>
              </a:rPr>
              <a:t>All are third-person, including the close preset.</a:t>
            </a:r>
          </a:p>
        </p:txBody>
      </p:sp>
      <p:cxnSp>
        <p:nvCxnSpPr>
          <p:cNvPr id="39" name="Connector 38"/>
          <p:cNvCxnSpPr/>
          <p:nvPr/>
        </p:nvCxnSpPr>
        <p:spPr>
          <a:xfrm>
            <a:off x="7726679" y="4764024"/>
            <a:ext cx="6263641" cy="0"/>
          </a:xfrm>
          <a:prstGeom prst="line">
            <a:avLst/>
          </a:prstGeom>
          <a:ln w="19050">
            <a:solidFill>
              <a:srgbClr val="42545B"/>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726679" y="4937760"/>
            <a:ext cx="6227064" cy="347472"/>
          </a:xfrm>
          <a:prstGeom prst="rect">
            <a:avLst/>
          </a:prstGeom>
          <a:noFill/>
        </p:spPr>
        <p:txBody>
          <a:bodyPr wrap="square" lIns="0" tIns="0" rIns="0" bIns="0" anchor="t">
            <a:noAutofit/>
          </a:bodyPr>
          <a:lstStyle/>
          <a:p>
            <a:pPr algn="l">
              <a:lnSpc>
                <a:spcPct val="100000"/>
              </a:lnSpc>
              <a:spcBef>
                <a:spcPts val="0"/>
              </a:spcBef>
              <a:spcAft>
                <a:spcPts val="0"/>
              </a:spcAft>
            </a:pPr>
            <a:r>
              <a:rPr sz="2000" b="1">
                <a:solidFill>
                  <a:srgbClr val="F0E9DA"/>
                </a:solidFill>
                <a:latin typeface="Arial"/>
              </a:rPr>
              <a:t>SPACE / RESCUE IS A STATE CHANGE</a:t>
            </a:r>
          </a:p>
        </p:txBody>
      </p:sp>
      <p:sp>
        <p:nvSpPr>
          <p:cNvPr id="41" name="TextBox 40"/>
          <p:cNvSpPr txBox="1"/>
          <p:nvPr/>
        </p:nvSpPr>
        <p:spPr>
          <a:xfrm>
            <a:off x="7726679" y="5404104"/>
            <a:ext cx="6217920" cy="914400"/>
          </a:xfrm>
          <a:prstGeom prst="rect">
            <a:avLst/>
          </a:prstGeom>
          <a:noFill/>
        </p:spPr>
        <p:txBody>
          <a:bodyPr wrap="square" lIns="0" tIns="0" rIns="0" bIns="0" anchor="t">
            <a:noAutofit/>
          </a:bodyPr>
          <a:lstStyle/>
          <a:p>
            <a:pPr algn="l">
              <a:lnSpc>
                <a:spcPct val="100000"/>
              </a:lnSpc>
              <a:spcBef>
                <a:spcPts val="0"/>
              </a:spcBef>
              <a:spcAft>
                <a:spcPts val="0"/>
              </a:spcAft>
            </a:pPr>
            <a:r>
              <a:rPr sz="1800" b="0">
                <a:solidFill>
                  <a:srgbClr val="F0E9DA"/>
                </a:solidFill>
                <a:latin typeface="Arial"/>
              </a:rPr>
              <a:t>Pickup: distance &lt;12, height &lt;=11, speed &lt;6.</a:t>
            </a:r>
          </a:p>
          <a:p>
            <a:pPr algn="l">
              <a:lnSpc>
                <a:spcPct val="100000"/>
              </a:lnSpc>
              <a:spcBef>
                <a:spcPts val="0"/>
              </a:spcBef>
              <a:spcAft>
                <a:spcPts val="0"/>
              </a:spcAft>
            </a:pPr>
            <a:r>
              <a:rPr sz="1800" b="0">
                <a:solidFill>
                  <a:srgbClr val="F0E9DA"/>
                </a:solidFill>
                <a:latin typeface="Arial"/>
              </a:rPr>
              <a:t>Hold 0.42 s/person; cabin capacity = 8.</a:t>
            </a:r>
          </a:p>
          <a:p>
            <a:pPr algn="l">
              <a:lnSpc>
                <a:spcPct val="100000"/>
              </a:lnSpc>
              <a:spcBef>
                <a:spcPts val="0"/>
              </a:spcBef>
              <a:spcAft>
                <a:spcPts val="0"/>
              </a:spcAft>
            </a:pPr>
            <a:r>
              <a:rPr sz="1800" b="0">
                <a:solidFill>
                  <a:srgbClr val="F0E9DA"/>
                </a:solidFill>
                <a:latin typeface="Arial"/>
              </a:rPr>
              <a:t>Deliver: base distance &lt;14; hold 1.2 s per load.</a:t>
            </a:r>
          </a:p>
        </p:txBody>
      </p:sp>
      <p:sp>
        <p:nvSpPr>
          <p:cNvPr id="42" name="TextBox 41"/>
          <p:cNvSpPr txBox="1"/>
          <p:nvPr/>
        </p:nvSpPr>
        <p:spPr>
          <a:xfrm>
            <a:off x="7726679" y="6437376"/>
            <a:ext cx="6217920" cy="557784"/>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58CFD1"/>
                </a:solidFill>
                <a:latin typeface="Arial"/>
              </a:rPr>
              <a:t>Inside -&gt; Running/Waiting -&gt; Aboard -&gt; Safe</a:t>
            </a:r>
          </a:p>
          <a:p>
            <a:pPr algn="l">
              <a:lnSpc>
                <a:spcPct val="100000"/>
              </a:lnSpc>
              <a:spcBef>
                <a:spcPts val="0"/>
              </a:spcBef>
              <a:spcAft>
                <a:spcPts val="0"/>
              </a:spcAft>
            </a:pPr>
            <a:r>
              <a:rPr sz="1600" b="0">
                <a:solidFill>
                  <a:srgbClr val="58CFD1"/>
                </a:solidFill>
                <a:latin typeface="Arial"/>
              </a:rPr>
              <a:t>Only Safe increases score; danger/timeout can cause Lost.</a:t>
            </a:r>
          </a:p>
        </p:txBody>
      </p:sp>
      <p:sp>
        <p:nvSpPr>
          <p:cNvPr id="43" name="Rectangle 42"/>
          <p:cNvSpPr/>
          <p:nvPr/>
        </p:nvSpPr>
        <p:spPr>
          <a:xfrm>
            <a:off x="548640" y="7296912"/>
            <a:ext cx="13533120" cy="365760"/>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48640" y="7296912"/>
            <a:ext cx="36576" cy="365760"/>
          </a:xfrm>
          <a:prstGeom prst="rect">
            <a:avLst/>
          </a:prstGeom>
          <a:solidFill>
            <a:srgbClr val="58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94944" y="7370064"/>
            <a:ext cx="13304520" cy="237744"/>
          </a:xfrm>
          <a:prstGeom prst="rect">
            <a:avLst/>
          </a:prstGeom>
          <a:noFill/>
        </p:spPr>
        <p:txBody>
          <a:bodyPr wrap="square" lIns="0" tIns="0" rIns="0" bIns="0" anchor="t">
            <a:noAutofit/>
          </a:bodyPr>
          <a:lstStyle/>
          <a:p>
            <a:pPr algn="l">
              <a:lnSpc>
                <a:spcPct val="100000"/>
              </a:lnSpc>
              <a:spcBef>
                <a:spcPts val="0"/>
              </a:spcBef>
              <a:spcAft>
                <a:spcPts val="0"/>
              </a:spcAft>
            </a:pPr>
            <a:r>
              <a:rPr sz="1500" b="0">
                <a:solidFill>
                  <a:srgbClr val="58CFD1"/>
                </a:solidFill>
                <a:latin typeface="Arial"/>
              </a:rPr>
              <a:t>ENTER start/next   |   P pause   |   R retry   |   M mute   |   F wireframe   |   F11 fullscreen   |   ESC exit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181E"/>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252728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1">
                <a:solidFill>
                  <a:srgbClr val="D5A45E"/>
                </a:solidFill>
                <a:latin typeface="Arial"/>
              </a:rPr>
              <a:t>ADDITIONAL GRAPHICS FEATURES</a:t>
            </a:r>
          </a:p>
        </p:txBody>
      </p:sp>
      <p:sp>
        <p:nvSpPr>
          <p:cNvPr id="3" name="TextBox 2"/>
          <p:cNvSpPr txBox="1"/>
          <p:nvPr/>
        </p:nvSpPr>
        <p:spPr>
          <a:xfrm>
            <a:off x="548640" y="694944"/>
            <a:ext cx="13350240" cy="594360"/>
          </a:xfrm>
          <a:prstGeom prst="rect">
            <a:avLst/>
          </a:prstGeom>
          <a:noFill/>
        </p:spPr>
        <p:txBody>
          <a:bodyPr wrap="square" lIns="0" tIns="0" rIns="0" bIns="0" anchor="t">
            <a:noAutofit/>
          </a:bodyPr>
          <a:lstStyle/>
          <a:p>
            <a:pPr algn="l">
              <a:lnSpc>
                <a:spcPct val="100000"/>
              </a:lnSpc>
              <a:spcBef>
                <a:spcPts val="0"/>
              </a:spcBef>
              <a:spcAft>
                <a:spcPts val="0"/>
              </a:spcAft>
            </a:pPr>
            <a:r>
              <a:rPr sz="3600" b="1">
                <a:solidFill>
                  <a:srgbClr val="F0E9DA"/>
                </a:solidFill>
                <a:latin typeface="Bahnschrift"/>
              </a:rPr>
              <a:t>Rendering / What makes the scene convincing</a:t>
            </a:r>
          </a:p>
        </p:txBody>
      </p:sp>
      <p:sp>
        <p:nvSpPr>
          <p:cNvPr id="4" name="TextBox 3"/>
          <p:cNvSpPr txBox="1"/>
          <p:nvPr/>
        </p:nvSpPr>
        <p:spPr>
          <a:xfrm>
            <a:off x="566928" y="1316736"/>
            <a:ext cx="13441680" cy="329184"/>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ACB9BA"/>
                </a:solidFill>
                <a:latin typeface="Arial"/>
              </a:rPr>
              <a:t>A forward OpenGL renderer: one shadow target, then the visible frame, particles, and the interface.</a:t>
            </a:r>
          </a:p>
        </p:txBody>
      </p:sp>
      <p:cxnSp>
        <p:nvCxnSpPr>
          <p:cNvPr id="5" name="Connector 4"/>
          <p:cNvCxnSpPr/>
          <p:nvPr/>
        </p:nvCxnSpPr>
        <p:spPr>
          <a:xfrm>
            <a:off x="548640" y="7772400"/>
            <a:ext cx="13533120" cy="0"/>
          </a:xfrm>
          <a:prstGeom prst="line">
            <a:avLst/>
          </a:prstGeom>
          <a:ln w="12700">
            <a:solidFill>
              <a:srgbClr val="42545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7900416"/>
            <a:ext cx="11338560" cy="219456"/>
          </a:xfrm>
          <a:prstGeom prst="rect">
            <a:avLst/>
          </a:prstGeom>
          <a:noFill/>
        </p:spPr>
        <p:txBody>
          <a:bodyPr wrap="square" lIns="0" tIns="0" rIns="0" bIns="0" anchor="t">
            <a:noAutofit/>
          </a:bodyPr>
          <a:lstStyle/>
          <a:p>
            <a:pPr algn="l">
              <a:lnSpc>
                <a:spcPct val="100000"/>
              </a:lnSpc>
              <a:spcBef>
                <a:spcPts val="0"/>
              </a:spcBef>
              <a:spcAft>
                <a:spcPts val="0"/>
              </a:spcAft>
            </a:pPr>
            <a:r>
              <a:rPr sz="1000" b="0">
                <a:solidFill>
                  <a:srgbClr val="ACB9BA"/>
                </a:solidFill>
                <a:latin typeface="Arial"/>
              </a:rPr>
              <a:t>ARRAKIS / HARVESTER DOWN     |     ASIQUE EHETASAMUL HAQUE     |     CSE 4102</a:t>
            </a:r>
          </a:p>
        </p:txBody>
      </p:sp>
      <p:sp>
        <p:nvSpPr>
          <p:cNvPr id="7" name="TextBox 6"/>
          <p:cNvSpPr txBox="1"/>
          <p:nvPr/>
        </p:nvSpPr>
        <p:spPr>
          <a:xfrm>
            <a:off x="13167360" y="7863840"/>
            <a:ext cx="914400" cy="274320"/>
          </a:xfrm>
          <a:prstGeom prst="rect">
            <a:avLst/>
          </a:prstGeom>
          <a:noFill/>
        </p:spPr>
        <p:txBody>
          <a:bodyPr wrap="square" lIns="0" tIns="0" rIns="0" bIns="0" anchor="t">
            <a:noAutofit/>
          </a:bodyPr>
          <a:lstStyle/>
          <a:p>
            <a:pPr algn="r">
              <a:lnSpc>
                <a:spcPct val="100000"/>
              </a:lnSpc>
              <a:spcBef>
                <a:spcPts val="0"/>
              </a:spcBef>
              <a:spcAft>
                <a:spcPts val="0"/>
              </a:spcAft>
            </a:pPr>
            <a:r>
              <a:rPr sz="1300" b="1">
                <a:solidFill>
                  <a:srgbClr val="D5A45E"/>
                </a:solidFill>
                <a:latin typeface="Arial"/>
              </a:rPr>
              <a:t>08 / 10</a:t>
            </a:r>
          </a:p>
        </p:txBody>
      </p:sp>
      <p:sp>
        <p:nvSpPr>
          <p:cNvPr id="8" name="Rectangle 7"/>
          <p:cNvSpPr/>
          <p:nvPr/>
        </p:nvSpPr>
        <p:spPr>
          <a:xfrm>
            <a:off x="548640" y="1947672"/>
            <a:ext cx="2523744" cy="868680"/>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2057400"/>
            <a:ext cx="2313432" cy="310896"/>
          </a:xfrm>
          <a:prstGeom prst="rect">
            <a:avLst/>
          </a:prstGeom>
          <a:noFill/>
        </p:spPr>
        <p:txBody>
          <a:bodyPr wrap="square" lIns="0" tIns="0" rIns="0" bIns="0" anchor="t">
            <a:noAutofit/>
          </a:bodyPr>
          <a:lstStyle/>
          <a:p>
            <a:pPr algn="l">
              <a:lnSpc>
                <a:spcPct val="100000"/>
              </a:lnSpc>
              <a:spcBef>
                <a:spcPts val="0"/>
              </a:spcBef>
              <a:spcAft>
                <a:spcPts val="0"/>
              </a:spcAft>
            </a:pPr>
            <a:r>
              <a:rPr sz="1600" b="1">
                <a:solidFill>
                  <a:srgbClr val="D5A45E"/>
                </a:solidFill>
                <a:latin typeface="Arial"/>
              </a:rPr>
              <a:t>01 / SHADOW DEPTH</a:t>
            </a:r>
          </a:p>
        </p:txBody>
      </p:sp>
      <p:sp>
        <p:nvSpPr>
          <p:cNvPr id="10" name="TextBox 9"/>
          <p:cNvSpPr txBox="1"/>
          <p:nvPr/>
        </p:nvSpPr>
        <p:spPr>
          <a:xfrm>
            <a:off x="667512" y="2414016"/>
            <a:ext cx="2331720" cy="310896"/>
          </a:xfrm>
          <a:prstGeom prst="rect">
            <a:avLst/>
          </a:prstGeom>
          <a:noFill/>
        </p:spPr>
        <p:txBody>
          <a:bodyPr wrap="square" lIns="0" tIns="0" rIns="0" bIns="0" anchor="t">
            <a:noAutofit/>
          </a:bodyPr>
          <a:lstStyle/>
          <a:p>
            <a:pPr algn="l">
              <a:lnSpc>
                <a:spcPct val="100000"/>
              </a:lnSpc>
              <a:spcBef>
                <a:spcPts val="0"/>
              </a:spcBef>
              <a:spcAft>
                <a:spcPts val="0"/>
              </a:spcAft>
            </a:pPr>
            <a:r>
              <a:rPr sz="1400" b="0">
                <a:solidFill>
                  <a:srgbClr val="F0E9DA"/>
                </a:solidFill>
                <a:latin typeface="Arial"/>
              </a:rPr>
              <a:t>2048 x 2048 depth map</a:t>
            </a:r>
          </a:p>
        </p:txBody>
      </p:sp>
      <p:sp>
        <p:nvSpPr>
          <p:cNvPr id="11" name="Chevron 10"/>
          <p:cNvSpPr/>
          <p:nvPr/>
        </p:nvSpPr>
        <p:spPr>
          <a:xfrm>
            <a:off x="3081528" y="2240280"/>
            <a:ext cx="173736" cy="274320"/>
          </a:xfrm>
          <a:prstGeom prst="chevron">
            <a:avLst/>
          </a:prstGeom>
          <a:solidFill>
            <a:srgbClr val="58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91840" y="1947672"/>
            <a:ext cx="2523744" cy="868680"/>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10712" y="2057400"/>
            <a:ext cx="2313432" cy="310896"/>
          </a:xfrm>
          <a:prstGeom prst="rect">
            <a:avLst/>
          </a:prstGeom>
          <a:noFill/>
        </p:spPr>
        <p:txBody>
          <a:bodyPr wrap="square" lIns="0" tIns="0" rIns="0" bIns="0" anchor="t">
            <a:noAutofit/>
          </a:bodyPr>
          <a:lstStyle/>
          <a:p>
            <a:pPr algn="l">
              <a:lnSpc>
                <a:spcPct val="100000"/>
              </a:lnSpc>
              <a:spcBef>
                <a:spcPts val="0"/>
              </a:spcBef>
              <a:spcAft>
                <a:spcPts val="0"/>
              </a:spcAft>
            </a:pPr>
            <a:r>
              <a:rPr sz="1600" b="1">
                <a:solidFill>
                  <a:srgbClr val="58CFD1"/>
                </a:solidFill>
                <a:latin typeface="Arial"/>
              </a:rPr>
              <a:t>02 / SKY + SUN</a:t>
            </a:r>
          </a:p>
        </p:txBody>
      </p:sp>
      <p:sp>
        <p:nvSpPr>
          <p:cNvPr id="14" name="TextBox 13"/>
          <p:cNvSpPr txBox="1"/>
          <p:nvPr/>
        </p:nvSpPr>
        <p:spPr>
          <a:xfrm>
            <a:off x="3410712" y="2414016"/>
            <a:ext cx="2331720" cy="310896"/>
          </a:xfrm>
          <a:prstGeom prst="rect">
            <a:avLst/>
          </a:prstGeom>
          <a:noFill/>
        </p:spPr>
        <p:txBody>
          <a:bodyPr wrap="square" lIns="0" tIns="0" rIns="0" bIns="0" anchor="t">
            <a:noAutofit/>
          </a:bodyPr>
          <a:lstStyle/>
          <a:p>
            <a:pPr algn="l">
              <a:lnSpc>
                <a:spcPct val="100000"/>
              </a:lnSpc>
              <a:spcBef>
                <a:spcPts val="0"/>
              </a:spcBef>
              <a:spcAft>
                <a:spcPts val="0"/>
              </a:spcAft>
            </a:pPr>
            <a:r>
              <a:rPr sz="1400" b="0">
                <a:solidFill>
                  <a:srgbClr val="F0E9DA"/>
                </a:solidFill>
                <a:latin typeface="Arial"/>
              </a:rPr>
              <a:t>Generated sky view rays</a:t>
            </a:r>
          </a:p>
        </p:txBody>
      </p:sp>
      <p:sp>
        <p:nvSpPr>
          <p:cNvPr id="15" name="Chevron 14"/>
          <p:cNvSpPr/>
          <p:nvPr/>
        </p:nvSpPr>
        <p:spPr>
          <a:xfrm>
            <a:off x="5824728" y="2240280"/>
            <a:ext cx="173736" cy="274320"/>
          </a:xfrm>
          <a:prstGeom prst="chevron">
            <a:avLst/>
          </a:prstGeom>
          <a:solidFill>
            <a:srgbClr val="58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035040" y="1947672"/>
            <a:ext cx="2523744" cy="868680"/>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53912" y="2057400"/>
            <a:ext cx="2313432" cy="310896"/>
          </a:xfrm>
          <a:prstGeom prst="rect">
            <a:avLst/>
          </a:prstGeom>
          <a:noFill/>
        </p:spPr>
        <p:txBody>
          <a:bodyPr wrap="square" lIns="0" tIns="0" rIns="0" bIns="0" anchor="t">
            <a:noAutofit/>
          </a:bodyPr>
          <a:lstStyle/>
          <a:p>
            <a:pPr algn="l">
              <a:lnSpc>
                <a:spcPct val="100000"/>
              </a:lnSpc>
              <a:spcBef>
                <a:spcPts val="0"/>
              </a:spcBef>
              <a:spcAft>
                <a:spcPts val="0"/>
              </a:spcAft>
            </a:pPr>
            <a:r>
              <a:rPr sz="1600" b="1">
                <a:solidFill>
                  <a:srgbClr val="D5A45E"/>
                </a:solidFill>
                <a:latin typeface="Arial"/>
              </a:rPr>
              <a:t>03 / LIT OBJECTS</a:t>
            </a:r>
          </a:p>
        </p:txBody>
      </p:sp>
      <p:sp>
        <p:nvSpPr>
          <p:cNvPr id="18" name="TextBox 17"/>
          <p:cNvSpPr txBox="1"/>
          <p:nvPr/>
        </p:nvSpPr>
        <p:spPr>
          <a:xfrm>
            <a:off x="6153912" y="2414016"/>
            <a:ext cx="2331720" cy="310896"/>
          </a:xfrm>
          <a:prstGeom prst="rect">
            <a:avLst/>
          </a:prstGeom>
          <a:noFill/>
        </p:spPr>
        <p:txBody>
          <a:bodyPr wrap="square" lIns="0" tIns="0" rIns="0" bIns="0" anchor="t">
            <a:noAutofit/>
          </a:bodyPr>
          <a:lstStyle/>
          <a:p>
            <a:pPr algn="l">
              <a:lnSpc>
                <a:spcPct val="100000"/>
              </a:lnSpc>
              <a:spcBef>
                <a:spcPts val="0"/>
              </a:spcBef>
              <a:spcAft>
                <a:spcPts val="0"/>
              </a:spcAft>
            </a:pPr>
            <a:r>
              <a:rPr sz="1400" b="0">
                <a:solidFill>
                  <a:srgbClr val="F0E9DA"/>
                </a:solidFill>
                <a:latin typeface="Arial"/>
              </a:rPr>
              <a:t>Materials + shadows + fog</a:t>
            </a:r>
          </a:p>
        </p:txBody>
      </p:sp>
      <p:sp>
        <p:nvSpPr>
          <p:cNvPr id="19" name="Chevron 18"/>
          <p:cNvSpPr/>
          <p:nvPr/>
        </p:nvSpPr>
        <p:spPr>
          <a:xfrm>
            <a:off x="8567928" y="2240280"/>
            <a:ext cx="173736" cy="274320"/>
          </a:xfrm>
          <a:prstGeom prst="chevron">
            <a:avLst/>
          </a:prstGeom>
          <a:solidFill>
            <a:srgbClr val="58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778240" y="1947672"/>
            <a:ext cx="2523744" cy="868680"/>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97112" y="2057400"/>
            <a:ext cx="2313432" cy="310896"/>
          </a:xfrm>
          <a:prstGeom prst="rect">
            <a:avLst/>
          </a:prstGeom>
          <a:noFill/>
        </p:spPr>
        <p:txBody>
          <a:bodyPr wrap="square" lIns="0" tIns="0" rIns="0" bIns="0" anchor="t">
            <a:noAutofit/>
          </a:bodyPr>
          <a:lstStyle/>
          <a:p>
            <a:pPr algn="l">
              <a:lnSpc>
                <a:spcPct val="100000"/>
              </a:lnSpc>
              <a:spcBef>
                <a:spcPts val="0"/>
              </a:spcBef>
              <a:spcAft>
                <a:spcPts val="0"/>
              </a:spcAft>
            </a:pPr>
            <a:r>
              <a:rPr sz="1600" b="1">
                <a:solidFill>
                  <a:srgbClr val="58CFD1"/>
                </a:solidFill>
                <a:latin typeface="Arial"/>
              </a:rPr>
              <a:t>04 / DUST</a:t>
            </a:r>
          </a:p>
        </p:txBody>
      </p:sp>
      <p:sp>
        <p:nvSpPr>
          <p:cNvPr id="22" name="TextBox 21"/>
          <p:cNvSpPr txBox="1"/>
          <p:nvPr/>
        </p:nvSpPr>
        <p:spPr>
          <a:xfrm>
            <a:off x="8897112" y="2414016"/>
            <a:ext cx="2331720" cy="310896"/>
          </a:xfrm>
          <a:prstGeom prst="rect">
            <a:avLst/>
          </a:prstGeom>
          <a:noFill/>
        </p:spPr>
        <p:txBody>
          <a:bodyPr wrap="square" lIns="0" tIns="0" rIns="0" bIns="0" anchor="t">
            <a:noAutofit/>
          </a:bodyPr>
          <a:lstStyle/>
          <a:p>
            <a:pPr algn="l">
              <a:lnSpc>
                <a:spcPct val="100000"/>
              </a:lnSpc>
              <a:spcBef>
                <a:spcPts val="0"/>
              </a:spcBef>
              <a:spcAft>
                <a:spcPts val="0"/>
              </a:spcAft>
            </a:pPr>
            <a:r>
              <a:rPr sz="1400" b="0">
                <a:solidFill>
                  <a:srgbClr val="F0E9DA"/>
                </a:solidFill>
                <a:latin typeface="Arial"/>
              </a:rPr>
              <a:t>Sorted alpha billboards</a:t>
            </a:r>
          </a:p>
        </p:txBody>
      </p:sp>
      <p:sp>
        <p:nvSpPr>
          <p:cNvPr id="23" name="Chevron 22"/>
          <p:cNvSpPr/>
          <p:nvPr/>
        </p:nvSpPr>
        <p:spPr>
          <a:xfrm>
            <a:off x="11311128" y="2240280"/>
            <a:ext cx="173736" cy="274320"/>
          </a:xfrm>
          <a:prstGeom prst="chevron">
            <a:avLst/>
          </a:prstGeom>
          <a:solidFill>
            <a:srgbClr val="58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1521440" y="1947672"/>
            <a:ext cx="2523744" cy="868680"/>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640312" y="2057400"/>
            <a:ext cx="2313432" cy="310896"/>
          </a:xfrm>
          <a:prstGeom prst="rect">
            <a:avLst/>
          </a:prstGeom>
          <a:noFill/>
        </p:spPr>
        <p:txBody>
          <a:bodyPr wrap="square" lIns="0" tIns="0" rIns="0" bIns="0" anchor="t">
            <a:noAutofit/>
          </a:bodyPr>
          <a:lstStyle/>
          <a:p>
            <a:pPr algn="l">
              <a:lnSpc>
                <a:spcPct val="100000"/>
              </a:lnSpc>
              <a:spcBef>
                <a:spcPts val="0"/>
              </a:spcBef>
              <a:spcAft>
                <a:spcPts val="0"/>
              </a:spcAft>
            </a:pPr>
            <a:r>
              <a:rPr sz="1600" b="1">
                <a:solidFill>
                  <a:srgbClr val="D5A45E"/>
                </a:solidFill>
                <a:latin typeface="Arial"/>
              </a:rPr>
              <a:t>05 / HUD</a:t>
            </a:r>
          </a:p>
        </p:txBody>
      </p:sp>
      <p:sp>
        <p:nvSpPr>
          <p:cNvPr id="26" name="TextBox 25"/>
          <p:cNvSpPr txBox="1"/>
          <p:nvPr/>
        </p:nvSpPr>
        <p:spPr>
          <a:xfrm>
            <a:off x="11640312" y="2414016"/>
            <a:ext cx="2331720" cy="310896"/>
          </a:xfrm>
          <a:prstGeom prst="rect">
            <a:avLst/>
          </a:prstGeom>
          <a:noFill/>
        </p:spPr>
        <p:txBody>
          <a:bodyPr wrap="square" lIns="0" tIns="0" rIns="0" bIns="0" anchor="t">
            <a:noAutofit/>
          </a:bodyPr>
          <a:lstStyle/>
          <a:p>
            <a:pPr algn="l">
              <a:lnSpc>
                <a:spcPct val="100000"/>
              </a:lnSpc>
              <a:spcBef>
                <a:spcPts val="0"/>
              </a:spcBef>
              <a:spcAft>
                <a:spcPts val="0"/>
              </a:spcAft>
            </a:pPr>
            <a:r>
              <a:rPr sz="1400" b="0">
                <a:solidFill>
                  <a:srgbClr val="F0E9DA"/>
                </a:solidFill>
                <a:latin typeface="Arial"/>
              </a:rPr>
              <a:t>Screen-space triangles</a:t>
            </a:r>
          </a:p>
        </p:txBody>
      </p:sp>
      <p:sp>
        <p:nvSpPr>
          <p:cNvPr id="27" name="TextBox 26"/>
          <p:cNvSpPr txBox="1"/>
          <p:nvPr/>
        </p:nvSpPr>
        <p:spPr>
          <a:xfrm>
            <a:off x="548640" y="3127248"/>
            <a:ext cx="4389120" cy="310896"/>
          </a:xfrm>
          <a:prstGeom prst="rect">
            <a:avLst/>
          </a:prstGeom>
          <a:noFill/>
        </p:spPr>
        <p:txBody>
          <a:bodyPr wrap="square" lIns="0" tIns="0" rIns="0" bIns="0" anchor="t">
            <a:noAutofit/>
          </a:bodyPr>
          <a:lstStyle/>
          <a:p>
            <a:pPr algn="l">
              <a:lnSpc>
                <a:spcPct val="100000"/>
              </a:lnSpc>
              <a:spcBef>
                <a:spcPts val="0"/>
              </a:spcBef>
              <a:spcAft>
                <a:spcPts val="0"/>
              </a:spcAft>
            </a:pPr>
            <a:r>
              <a:rPr sz="1800" b="1">
                <a:solidFill>
                  <a:srgbClr val="D5A45E"/>
                </a:solidFill>
                <a:latin typeface="Arial"/>
              </a:rPr>
              <a:t>SHADOWS + MATERIALS</a:t>
            </a:r>
          </a:p>
        </p:txBody>
      </p:sp>
      <p:pic>
        <p:nvPicPr>
          <p:cNvPr id="28" name="Picture 27" descr="shadow_detail_crop.png"/>
          <p:cNvPicPr>
            <a:picLocks noChangeAspect="1"/>
          </p:cNvPicPr>
          <p:nvPr/>
        </p:nvPicPr>
        <p:blipFill>
          <a:blip r:embed="rId3"/>
          <a:srcRect t="13579" b="13579"/>
          <a:stretch>
            <a:fillRect/>
          </a:stretch>
        </p:blipFill>
        <p:spPr>
          <a:xfrm>
            <a:off x="548640" y="3575304"/>
            <a:ext cx="4334256" cy="1929384"/>
          </a:xfrm>
          <a:prstGeom prst="rect">
            <a:avLst/>
          </a:prstGeom>
        </p:spPr>
      </p:pic>
      <p:sp>
        <p:nvSpPr>
          <p:cNvPr id="29" name="TextBox 28"/>
          <p:cNvSpPr txBox="1"/>
          <p:nvPr/>
        </p:nvSpPr>
        <p:spPr>
          <a:xfrm>
            <a:off x="548640" y="5669280"/>
            <a:ext cx="4389120" cy="1143000"/>
          </a:xfrm>
          <a:prstGeom prst="rect">
            <a:avLst/>
          </a:prstGeom>
          <a:noFill/>
        </p:spPr>
        <p:txBody>
          <a:bodyPr wrap="square" lIns="0" tIns="0" rIns="0" bIns="0" anchor="t">
            <a:noAutofit/>
          </a:bodyPr>
          <a:lstStyle/>
          <a:p>
            <a:pPr algn="l">
              <a:lnSpc>
                <a:spcPct val="100000"/>
              </a:lnSpc>
              <a:spcBef>
                <a:spcPts val="0"/>
              </a:spcBef>
              <a:spcAft>
                <a:spcPts val="0"/>
              </a:spcAft>
            </a:pPr>
            <a:r>
              <a:rPr sz="1650" b="0">
                <a:solidFill>
                  <a:srgbClr val="F0E9DA"/>
                </a:solidFill>
                <a:latin typeface="Arial"/>
              </a:rPr>
              <a:t>Directional Blinn-Phong + sand-wrap diffuse.</a:t>
            </a:r>
          </a:p>
          <a:p>
            <a:pPr algn="l">
              <a:lnSpc>
                <a:spcPct val="100000"/>
              </a:lnSpc>
              <a:spcBef>
                <a:spcPts val="0"/>
              </a:spcBef>
              <a:spcAft>
                <a:spcPts val="0"/>
              </a:spcAft>
            </a:pPr>
            <a:r>
              <a:rPr sz="1650" b="0">
                <a:solidFill>
                  <a:srgbClr val="F0E9DA"/>
                </a:solidFill>
                <a:latin typeface="Arial"/>
              </a:rPr>
              <a:t>5 x 5 PCF; receiver-plane correction + bias.</a:t>
            </a:r>
          </a:p>
          <a:p>
            <a:pPr algn="l">
              <a:lnSpc>
                <a:spcPct val="100000"/>
              </a:lnSpc>
              <a:spcBef>
                <a:spcPts val="0"/>
              </a:spcBef>
              <a:spcAft>
                <a:spcPts val="0"/>
              </a:spcAft>
            </a:pPr>
            <a:r>
              <a:rPr sz="1650" b="0">
                <a:solidFill>
                  <a:srgbClr val="F0E9DA"/>
                </a:solidFill>
                <a:latin typeface="Arial"/>
              </a:rPr>
              <a:t>Glossy opaque surfaces; emissive ornaments.</a:t>
            </a:r>
          </a:p>
        </p:txBody>
      </p:sp>
      <p:sp>
        <p:nvSpPr>
          <p:cNvPr id="30" name="TextBox 29"/>
          <p:cNvSpPr txBox="1"/>
          <p:nvPr/>
        </p:nvSpPr>
        <p:spPr>
          <a:xfrm>
            <a:off x="5166360" y="3127248"/>
            <a:ext cx="4389120" cy="310896"/>
          </a:xfrm>
          <a:prstGeom prst="rect">
            <a:avLst/>
          </a:prstGeom>
          <a:noFill/>
        </p:spPr>
        <p:txBody>
          <a:bodyPr wrap="square" lIns="0" tIns="0" rIns="0" bIns="0" anchor="t">
            <a:noAutofit/>
          </a:bodyPr>
          <a:lstStyle/>
          <a:p>
            <a:pPr algn="l">
              <a:lnSpc>
                <a:spcPct val="100000"/>
              </a:lnSpc>
              <a:spcBef>
                <a:spcPts val="0"/>
              </a:spcBef>
              <a:spcAft>
                <a:spcPts val="0"/>
              </a:spcAft>
            </a:pPr>
            <a:r>
              <a:rPr sz="1800" b="1">
                <a:solidFill>
                  <a:srgbClr val="D5A45E"/>
                </a:solidFill>
                <a:latin typeface="Arial"/>
              </a:rPr>
              <a:t>PROCEDURAL SURFACE DETAIL</a:t>
            </a:r>
          </a:p>
        </p:txBody>
      </p:sp>
      <p:pic>
        <p:nvPicPr>
          <p:cNvPr id="31" name="Picture 30" descr="rocks_crop.png"/>
          <p:cNvPicPr>
            <a:picLocks noChangeAspect="1"/>
          </p:cNvPicPr>
          <p:nvPr/>
        </p:nvPicPr>
        <p:blipFill>
          <a:blip r:embed="rId4"/>
          <a:srcRect t="19273" b="19273"/>
          <a:stretch>
            <a:fillRect/>
          </a:stretch>
        </p:blipFill>
        <p:spPr>
          <a:xfrm>
            <a:off x="5166360" y="3575304"/>
            <a:ext cx="4334256" cy="1929384"/>
          </a:xfrm>
          <a:prstGeom prst="rect">
            <a:avLst/>
          </a:prstGeom>
        </p:spPr>
      </p:pic>
      <p:sp>
        <p:nvSpPr>
          <p:cNvPr id="32" name="TextBox 31"/>
          <p:cNvSpPr txBox="1"/>
          <p:nvPr/>
        </p:nvSpPr>
        <p:spPr>
          <a:xfrm>
            <a:off x="5166360" y="5669280"/>
            <a:ext cx="4389120" cy="1143000"/>
          </a:xfrm>
          <a:prstGeom prst="rect">
            <a:avLst/>
          </a:prstGeom>
          <a:noFill/>
        </p:spPr>
        <p:txBody>
          <a:bodyPr wrap="square" lIns="0" tIns="0" rIns="0" bIns="0" anchor="t">
            <a:noAutofit/>
          </a:bodyPr>
          <a:lstStyle/>
          <a:p>
            <a:pPr algn="l">
              <a:lnSpc>
                <a:spcPct val="100000"/>
              </a:lnSpc>
              <a:spcBef>
                <a:spcPts val="0"/>
              </a:spcBef>
              <a:spcAft>
                <a:spcPts val="0"/>
              </a:spcAft>
            </a:pPr>
            <a:r>
              <a:rPr sz="1650" b="0">
                <a:solidFill>
                  <a:srgbClr val="F0E9DA"/>
                </a:solidFill>
                <a:latin typeface="Arial"/>
              </a:rPr>
              <a:t>Sand ripples, bump-like normals and sparkle.</a:t>
            </a:r>
          </a:p>
          <a:p>
            <a:pPr algn="l">
              <a:lnSpc>
                <a:spcPct val="100000"/>
              </a:lnSpc>
              <a:spcBef>
                <a:spcPts val="0"/>
              </a:spcBef>
              <a:spcAft>
                <a:spcPts val="0"/>
              </a:spcAft>
            </a:pPr>
            <a:r>
              <a:rPr sz="1650" b="0">
                <a:solidFill>
                  <a:srgbClr val="F0E9DA"/>
                </a:solidFill>
                <a:latin typeface="Arial"/>
              </a:rPr>
              <a:t>Rock strata/grain; no bitmap texture files.</a:t>
            </a:r>
          </a:p>
          <a:p>
            <a:pPr algn="l">
              <a:lnSpc>
                <a:spcPct val="100000"/>
              </a:lnSpc>
              <a:spcBef>
                <a:spcPts val="0"/>
              </a:spcBef>
              <a:spcAft>
                <a:spcPts val="0"/>
              </a:spcAft>
            </a:pPr>
            <a:r>
              <a:rPr sz="1650" b="0">
                <a:solidFill>
                  <a:srgbClr val="F0E9DA"/>
                </a:solidFill>
                <a:latin typeface="Arial"/>
              </a:rPr>
              <a:t>Sky gradient, sun disc/halo, distance fog, tone mapping.</a:t>
            </a:r>
          </a:p>
        </p:txBody>
      </p:sp>
      <p:sp>
        <p:nvSpPr>
          <p:cNvPr id="33" name="TextBox 32"/>
          <p:cNvSpPr txBox="1"/>
          <p:nvPr/>
        </p:nvSpPr>
        <p:spPr>
          <a:xfrm>
            <a:off x="9784080" y="3127248"/>
            <a:ext cx="4389120" cy="310896"/>
          </a:xfrm>
          <a:prstGeom prst="rect">
            <a:avLst/>
          </a:prstGeom>
          <a:noFill/>
        </p:spPr>
        <p:txBody>
          <a:bodyPr wrap="square" lIns="0" tIns="0" rIns="0" bIns="0" anchor="t">
            <a:noAutofit/>
          </a:bodyPr>
          <a:lstStyle/>
          <a:p>
            <a:pPr algn="l">
              <a:lnSpc>
                <a:spcPct val="100000"/>
              </a:lnSpc>
              <a:spcBef>
                <a:spcPts val="0"/>
              </a:spcBef>
              <a:spcAft>
                <a:spcPts val="0"/>
              </a:spcAft>
            </a:pPr>
            <a:r>
              <a:rPr sz="1800" b="1">
                <a:solidFill>
                  <a:srgbClr val="D5A45E"/>
                </a:solidFill>
                <a:latin typeface="Arial"/>
              </a:rPr>
              <a:t>DUST + COLLAPSING TERRAIN</a:t>
            </a:r>
          </a:p>
        </p:txBody>
      </p:sp>
      <p:pic>
        <p:nvPicPr>
          <p:cNvPr id="34" name="Picture 33" descr="dust_detail_crop.png"/>
          <p:cNvPicPr>
            <a:picLocks noChangeAspect="1"/>
          </p:cNvPicPr>
          <p:nvPr/>
        </p:nvPicPr>
        <p:blipFill>
          <a:blip r:embed="rId5"/>
          <a:srcRect l="21203" r="21203"/>
          <a:stretch>
            <a:fillRect/>
          </a:stretch>
        </p:blipFill>
        <p:spPr>
          <a:xfrm>
            <a:off x="9784080" y="3575304"/>
            <a:ext cx="2121408" cy="1929384"/>
          </a:xfrm>
          <a:prstGeom prst="rect">
            <a:avLst/>
          </a:prstGeom>
        </p:spPr>
      </p:pic>
      <p:pic>
        <p:nvPicPr>
          <p:cNvPr id="35" name="Picture 34" descr="crater.png"/>
          <p:cNvPicPr>
            <a:picLocks noChangeAspect="1"/>
          </p:cNvPicPr>
          <p:nvPr/>
        </p:nvPicPr>
        <p:blipFill>
          <a:blip r:embed="rId6"/>
          <a:srcRect l="19076" r="19076"/>
          <a:stretch>
            <a:fillRect/>
          </a:stretch>
        </p:blipFill>
        <p:spPr>
          <a:xfrm>
            <a:off x="11996928" y="3575304"/>
            <a:ext cx="2121408" cy="1929384"/>
          </a:xfrm>
          <a:prstGeom prst="rect">
            <a:avLst/>
          </a:prstGeom>
        </p:spPr>
      </p:pic>
      <p:sp>
        <p:nvSpPr>
          <p:cNvPr id="36" name="Rectangle 35"/>
          <p:cNvSpPr/>
          <p:nvPr/>
        </p:nvSpPr>
        <p:spPr>
          <a:xfrm>
            <a:off x="9784080" y="5239512"/>
            <a:ext cx="2121408" cy="265176"/>
          </a:xfrm>
          <a:prstGeom prst="rect">
            <a:avLst/>
          </a:prstGeom>
          <a:solidFill>
            <a:srgbClr val="10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1996928" y="5239512"/>
            <a:ext cx="2121408" cy="265176"/>
          </a:xfrm>
          <a:prstGeom prst="rect">
            <a:avLst/>
          </a:prstGeom>
          <a:solidFill>
            <a:srgbClr val="10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857232" y="5294376"/>
            <a:ext cx="1929384" cy="219456"/>
          </a:xfrm>
          <a:prstGeom prst="rect">
            <a:avLst/>
          </a:prstGeom>
          <a:noFill/>
        </p:spPr>
        <p:txBody>
          <a:bodyPr wrap="square" lIns="0" tIns="0" rIns="0" bIns="0" anchor="t">
            <a:noAutofit/>
          </a:bodyPr>
          <a:lstStyle/>
          <a:p>
            <a:pPr algn="l">
              <a:lnSpc>
                <a:spcPct val="100000"/>
              </a:lnSpc>
              <a:spcBef>
                <a:spcPts val="0"/>
              </a:spcBef>
              <a:spcAft>
                <a:spcPts val="0"/>
              </a:spcAft>
            </a:pPr>
            <a:r>
              <a:rPr sz="1200" b="1">
                <a:solidFill>
                  <a:srgbClr val="F0E9DA"/>
                </a:solidFill>
                <a:latin typeface="Arial"/>
              </a:rPr>
              <a:t>BREACH DUST</a:t>
            </a:r>
          </a:p>
        </p:txBody>
      </p:sp>
      <p:sp>
        <p:nvSpPr>
          <p:cNvPr id="39" name="TextBox 38"/>
          <p:cNvSpPr txBox="1"/>
          <p:nvPr/>
        </p:nvSpPr>
        <p:spPr>
          <a:xfrm>
            <a:off x="12070080" y="5294376"/>
            <a:ext cx="196596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1">
                <a:solidFill>
                  <a:srgbClr val="F0E9DA"/>
                </a:solidFill>
                <a:latin typeface="Arial"/>
              </a:rPr>
              <a:t>GPU DEPRESSION</a:t>
            </a:r>
          </a:p>
        </p:txBody>
      </p:sp>
      <p:sp>
        <p:nvSpPr>
          <p:cNvPr id="40" name="TextBox 39"/>
          <p:cNvSpPr txBox="1"/>
          <p:nvPr/>
        </p:nvSpPr>
        <p:spPr>
          <a:xfrm>
            <a:off x="9784080" y="5669280"/>
            <a:ext cx="4389120" cy="1143000"/>
          </a:xfrm>
          <a:prstGeom prst="rect">
            <a:avLst/>
          </a:prstGeom>
          <a:noFill/>
        </p:spPr>
        <p:txBody>
          <a:bodyPr wrap="square" lIns="0" tIns="0" rIns="0" bIns="0" anchor="t">
            <a:noAutofit/>
          </a:bodyPr>
          <a:lstStyle/>
          <a:p>
            <a:pPr algn="l">
              <a:lnSpc>
                <a:spcPct val="100000"/>
              </a:lnSpc>
              <a:spcBef>
                <a:spcPts val="0"/>
              </a:spcBef>
              <a:spcAft>
                <a:spcPts val="0"/>
              </a:spcAft>
            </a:pPr>
            <a:r>
              <a:rPr sz="1650" b="0">
                <a:solidFill>
                  <a:srgbClr val="F0E9DA"/>
                </a:solidFill>
                <a:latin typeface="Arial"/>
              </a:rPr>
              <a:t>2,400 particles: wind/crawler/worm/downwash.</a:t>
            </a:r>
          </a:p>
          <a:p>
            <a:pPr algn="l">
              <a:lnSpc>
                <a:spcPct val="100000"/>
              </a:lnSpc>
              <a:spcBef>
                <a:spcPts val="0"/>
              </a:spcBef>
              <a:spcAft>
                <a:spcPts val="0"/>
              </a:spcAft>
            </a:pPr>
            <a:r>
              <a:rPr sz="1650" b="0">
                <a:solidFill>
                  <a:srgbClr val="F0E9DA"/>
                </a:solidFill>
                <a:latin typeface="Arial"/>
              </a:rPr>
              <a:t>Sorted instances + lifetime/alpha fades.</a:t>
            </a:r>
          </a:p>
          <a:p>
            <a:pPr algn="l">
              <a:lnSpc>
                <a:spcPct val="100000"/>
              </a:lnSpc>
              <a:spcBef>
                <a:spcPts val="0"/>
              </a:spcBef>
              <a:spcAft>
                <a:spcPts val="0"/>
              </a:spcAft>
            </a:pPr>
            <a:r>
              <a:rPr sz="1650" b="0">
                <a:solidFill>
                  <a:srgbClr val="F0E9DA"/>
                </a:solidFill>
                <a:latin typeface="Arial"/>
              </a:rPr>
              <a:t>Depth-tested, camera-facing billboards.</a:t>
            </a:r>
          </a:p>
          <a:p>
            <a:pPr algn="l">
              <a:lnSpc>
                <a:spcPct val="100000"/>
              </a:lnSpc>
              <a:spcBef>
                <a:spcPts val="0"/>
              </a:spcBef>
              <a:spcAft>
                <a:spcPts val="0"/>
              </a:spcAft>
            </a:pPr>
            <a:r>
              <a:rPr sz="1650" b="0">
                <a:solidFill>
                  <a:srgbClr val="F0E9DA"/>
                </a:solidFill>
                <a:latin typeface="Arial"/>
              </a:rPr>
              <a:t>Crater: 13 units deep, tapers to radius 48.</a:t>
            </a:r>
          </a:p>
        </p:txBody>
      </p:sp>
      <p:sp>
        <p:nvSpPr>
          <p:cNvPr id="41" name="TextBox 40"/>
          <p:cNvSpPr txBox="1"/>
          <p:nvPr/>
        </p:nvSpPr>
        <p:spPr>
          <a:xfrm>
            <a:off x="576072" y="6931152"/>
            <a:ext cx="13441680" cy="292608"/>
          </a:xfrm>
          <a:prstGeom prst="rect">
            <a:avLst/>
          </a:prstGeom>
          <a:noFill/>
        </p:spPr>
        <p:txBody>
          <a:bodyPr wrap="square" lIns="0" tIns="0" rIns="0" bIns="0" anchor="t">
            <a:noAutofit/>
          </a:bodyPr>
          <a:lstStyle/>
          <a:p>
            <a:pPr algn="l">
              <a:lnSpc>
                <a:spcPct val="100000"/>
              </a:lnSpc>
              <a:spcBef>
                <a:spcPts val="0"/>
              </a:spcBef>
              <a:spcAft>
                <a:spcPts val="0"/>
              </a:spcAft>
            </a:pPr>
            <a:r>
              <a:rPr sz="1500" b="0">
                <a:solidFill>
                  <a:srgbClr val="ACB9BA"/>
                </a:solidFill>
                <a:latin typeface="Arial"/>
              </a:rPr>
              <a:t>Depth/culling + requested 4x MSAA; inverse-transpose normals. Crater is GPU-only: CPU ground/collision height is unchanged.</a:t>
            </a:r>
          </a:p>
        </p:txBody>
      </p:sp>
      <p:sp>
        <p:nvSpPr>
          <p:cNvPr id="42" name="Rectangle 41"/>
          <p:cNvSpPr/>
          <p:nvPr/>
        </p:nvSpPr>
        <p:spPr>
          <a:xfrm>
            <a:off x="548640" y="7296912"/>
            <a:ext cx="13533120" cy="365760"/>
          </a:xfrm>
          <a:prstGeom prst="rect">
            <a:avLst/>
          </a:prstGeom>
          <a:solidFill>
            <a:srgbClr val="192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548640" y="7296912"/>
            <a:ext cx="36576" cy="365760"/>
          </a:xfrm>
          <a:prstGeom prst="rect">
            <a:avLst/>
          </a:prstGeom>
          <a:solidFill>
            <a:srgbClr val="58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94944" y="7370064"/>
            <a:ext cx="13304520" cy="237744"/>
          </a:xfrm>
          <a:prstGeom prst="rect">
            <a:avLst/>
          </a:prstGeom>
          <a:noFill/>
        </p:spPr>
        <p:txBody>
          <a:bodyPr wrap="square" lIns="0" tIns="0" rIns="0" bIns="0" anchor="t">
            <a:noAutofit/>
          </a:bodyPr>
          <a:lstStyle/>
          <a:p>
            <a:pPr algn="l">
              <a:lnSpc>
                <a:spcPct val="100000"/>
              </a:lnSpc>
              <a:spcBef>
                <a:spcPts val="0"/>
              </a:spcBef>
              <a:spcAft>
                <a:spcPts val="0"/>
              </a:spcAft>
            </a:pPr>
            <a:r>
              <a:rPr sz="1500" b="0">
                <a:solidFill>
                  <a:srgbClr val="58CFD1"/>
                </a:solidFill>
                <a:latin typeface="Arial"/>
              </a:rPr>
              <a:t>DEMO: inspect long shadows + surface detail; press F for triangle topology; show breach dust and the visual depression.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181E"/>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252728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1">
                <a:solidFill>
                  <a:srgbClr val="D5A45E"/>
                </a:solidFill>
                <a:latin typeface="Arial"/>
              </a:rPr>
              <a:t>ADDITIONAL INTERFACE, AUDIO AND ENGINEERING FEATURES</a:t>
            </a:r>
          </a:p>
        </p:txBody>
      </p:sp>
      <p:sp>
        <p:nvSpPr>
          <p:cNvPr id="3" name="TextBox 2"/>
          <p:cNvSpPr txBox="1"/>
          <p:nvPr/>
        </p:nvSpPr>
        <p:spPr>
          <a:xfrm>
            <a:off x="548640" y="694944"/>
            <a:ext cx="13350240" cy="594360"/>
          </a:xfrm>
          <a:prstGeom prst="rect">
            <a:avLst/>
          </a:prstGeom>
          <a:noFill/>
        </p:spPr>
        <p:txBody>
          <a:bodyPr wrap="square" lIns="0" tIns="0" rIns="0" bIns="0" anchor="t">
            <a:noAutofit/>
          </a:bodyPr>
          <a:lstStyle/>
          <a:p>
            <a:pPr algn="l">
              <a:lnSpc>
                <a:spcPct val="100000"/>
              </a:lnSpc>
              <a:spcBef>
                <a:spcPts val="0"/>
              </a:spcBef>
              <a:spcAft>
                <a:spcPts val="0"/>
              </a:spcAft>
            </a:pPr>
            <a:r>
              <a:rPr sz="3600" b="1">
                <a:solidFill>
                  <a:srgbClr val="F0E9DA"/>
                </a:solidFill>
                <a:latin typeface="Bahnschrift"/>
              </a:rPr>
              <a:t>Feedback / The player can read and hear the mission</a:t>
            </a:r>
          </a:p>
        </p:txBody>
      </p:sp>
      <p:sp>
        <p:nvSpPr>
          <p:cNvPr id="4" name="TextBox 3"/>
          <p:cNvSpPr txBox="1"/>
          <p:nvPr/>
        </p:nvSpPr>
        <p:spPr>
          <a:xfrm>
            <a:off x="566928" y="1316736"/>
            <a:ext cx="13441680" cy="329184"/>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ACB9BA"/>
                </a:solidFill>
                <a:latin typeface="Arial"/>
              </a:rPr>
              <a:t>Custom HUD, spatial sound, runtime safeguards, and reproducible build/testing tools.</a:t>
            </a:r>
          </a:p>
        </p:txBody>
      </p:sp>
      <p:cxnSp>
        <p:nvCxnSpPr>
          <p:cNvPr id="5" name="Connector 4"/>
          <p:cNvCxnSpPr/>
          <p:nvPr/>
        </p:nvCxnSpPr>
        <p:spPr>
          <a:xfrm>
            <a:off x="548640" y="7772400"/>
            <a:ext cx="13533120" cy="0"/>
          </a:xfrm>
          <a:prstGeom prst="line">
            <a:avLst/>
          </a:prstGeom>
          <a:ln w="12700">
            <a:solidFill>
              <a:srgbClr val="42545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7900416"/>
            <a:ext cx="11338560" cy="219456"/>
          </a:xfrm>
          <a:prstGeom prst="rect">
            <a:avLst/>
          </a:prstGeom>
          <a:noFill/>
        </p:spPr>
        <p:txBody>
          <a:bodyPr wrap="square" lIns="0" tIns="0" rIns="0" bIns="0" anchor="t">
            <a:noAutofit/>
          </a:bodyPr>
          <a:lstStyle/>
          <a:p>
            <a:pPr algn="l">
              <a:lnSpc>
                <a:spcPct val="100000"/>
              </a:lnSpc>
              <a:spcBef>
                <a:spcPts val="0"/>
              </a:spcBef>
              <a:spcAft>
                <a:spcPts val="0"/>
              </a:spcAft>
            </a:pPr>
            <a:r>
              <a:rPr sz="1000" b="0">
                <a:solidFill>
                  <a:srgbClr val="ACB9BA"/>
                </a:solidFill>
                <a:latin typeface="Arial"/>
              </a:rPr>
              <a:t>ARRAKIS / HARVESTER DOWN     |     ASIQUE EHETASAMUL HAQUE     |     CSE 4102</a:t>
            </a:r>
          </a:p>
        </p:txBody>
      </p:sp>
      <p:sp>
        <p:nvSpPr>
          <p:cNvPr id="7" name="TextBox 6"/>
          <p:cNvSpPr txBox="1"/>
          <p:nvPr/>
        </p:nvSpPr>
        <p:spPr>
          <a:xfrm>
            <a:off x="13167360" y="7863840"/>
            <a:ext cx="914400" cy="274320"/>
          </a:xfrm>
          <a:prstGeom prst="rect">
            <a:avLst/>
          </a:prstGeom>
          <a:noFill/>
        </p:spPr>
        <p:txBody>
          <a:bodyPr wrap="square" lIns="0" tIns="0" rIns="0" bIns="0" anchor="t">
            <a:noAutofit/>
          </a:bodyPr>
          <a:lstStyle/>
          <a:p>
            <a:pPr algn="r">
              <a:lnSpc>
                <a:spcPct val="100000"/>
              </a:lnSpc>
              <a:spcBef>
                <a:spcPts val="0"/>
              </a:spcBef>
              <a:spcAft>
                <a:spcPts val="0"/>
              </a:spcAft>
            </a:pPr>
            <a:r>
              <a:rPr sz="1300" b="1">
                <a:solidFill>
                  <a:srgbClr val="D5A45E"/>
                </a:solidFill>
                <a:latin typeface="Arial"/>
              </a:rPr>
              <a:t>09 / 10</a:t>
            </a:r>
          </a:p>
        </p:txBody>
      </p:sp>
      <p:sp>
        <p:nvSpPr>
          <p:cNvPr id="8" name="TextBox 7"/>
          <p:cNvSpPr txBox="1"/>
          <p:nvPr/>
        </p:nvSpPr>
        <p:spPr>
          <a:xfrm>
            <a:off x="548640" y="1911095"/>
            <a:ext cx="7726679" cy="338328"/>
          </a:xfrm>
          <a:prstGeom prst="rect">
            <a:avLst/>
          </a:prstGeom>
          <a:noFill/>
        </p:spPr>
        <p:txBody>
          <a:bodyPr wrap="square" lIns="0" tIns="0" rIns="0" bIns="0" anchor="t">
            <a:noAutofit/>
          </a:bodyPr>
          <a:lstStyle/>
          <a:p>
            <a:pPr algn="l">
              <a:lnSpc>
                <a:spcPct val="100000"/>
              </a:lnSpc>
              <a:spcBef>
                <a:spcPts val="0"/>
              </a:spcBef>
              <a:spcAft>
                <a:spcPts val="0"/>
              </a:spcAft>
            </a:pPr>
            <a:r>
              <a:rPr sz="2000" b="1">
                <a:solidFill>
                  <a:srgbClr val="58CFD1"/>
                </a:solidFill>
                <a:latin typeface="Arial"/>
              </a:rPr>
              <a:t>INSTRUMENTATION / 5 x 7 BITMAP FONT</a:t>
            </a:r>
          </a:p>
        </p:txBody>
      </p:sp>
      <p:pic>
        <p:nvPicPr>
          <p:cNvPr id="9" name="Picture 8" descr="status_crop.png"/>
          <p:cNvPicPr>
            <a:picLocks noChangeAspect="1"/>
          </p:cNvPicPr>
          <p:nvPr/>
        </p:nvPicPr>
        <p:blipFill>
          <a:blip r:embed="rId3"/>
          <a:stretch>
            <a:fillRect/>
          </a:stretch>
        </p:blipFill>
        <p:spPr>
          <a:xfrm>
            <a:off x="548640" y="2403771"/>
            <a:ext cx="7726679" cy="715433"/>
          </a:xfrm>
          <a:prstGeom prst="rect">
            <a:avLst/>
          </a:prstGeom>
        </p:spPr>
      </p:pic>
      <p:sp>
        <p:nvSpPr>
          <p:cNvPr id="10" name="TextBox 9"/>
          <p:cNvSpPr txBox="1"/>
          <p:nvPr/>
        </p:nvSpPr>
        <p:spPr>
          <a:xfrm>
            <a:off x="548640" y="3273552"/>
            <a:ext cx="7772400" cy="374904"/>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F0E9DA"/>
                </a:solidFill>
                <a:latin typeface="Arial"/>
              </a:rPr>
              <a:t>Crew / cabin / score / wave; breach or extraction timer; seat and progress bars.</a:t>
            </a:r>
          </a:p>
        </p:txBody>
      </p:sp>
      <p:pic>
        <p:nvPicPr>
          <p:cNvPr id="11" name="Picture 10" descr="telemetry_crop.png"/>
          <p:cNvPicPr>
            <a:picLocks noChangeAspect="1"/>
          </p:cNvPicPr>
          <p:nvPr/>
        </p:nvPicPr>
        <p:blipFill>
          <a:blip r:embed="rId4"/>
          <a:srcRect l="203" r="203"/>
          <a:stretch>
            <a:fillRect/>
          </a:stretch>
        </p:blipFill>
        <p:spPr>
          <a:xfrm>
            <a:off x="548640" y="3803904"/>
            <a:ext cx="2743200" cy="1563624"/>
          </a:xfrm>
          <a:prstGeom prst="rect">
            <a:avLst/>
          </a:prstGeom>
        </p:spPr>
      </p:pic>
      <p:pic>
        <p:nvPicPr>
          <p:cNvPr id="12" name="Picture 11" descr="radar_crop.png"/>
          <p:cNvPicPr>
            <a:picLocks noChangeAspect="1"/>
          </p:cNvPicPr>
          <p:nvPr/>
        </p:nvPicPr>
        <p:blipFill>
          <a:blip r:embed="rId5"/>
          <a:srcRect t="169" b="169"/>
          <a:stretch>
            <a:fillRect/>
          </a:stretch>
        </p:blipFill>
        <p:spPr>
          <a:xfrm>
            <a:off x="5577840" y="3813048"/>
            <a:ext cx="2157984" cy="2688336"/>
          </a:xfrm>
          <a:prstGeom prst="rect">
            <a:avLst/>
          </a:prstGeom>
        </p:spPr>
      </p:pic>
      <p:sp>
        <p:nvSpPr>
          <p:cNvPr id="13" name="TextBox 12"/>
          <p:cNvSpPr txBox="1"/>
          <p:nvPr/>
        </p:nvSpPr>
        <p:spPr>
          <a:xfrm>
            <a:off x="594360" y="5513832"/>
            <a:ext cx="4535424" cy="1097280"/>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F0E9DA"/>
                </a:solidFill>
                <a:latin typeface="Arial"/>
              </a:rPr>
              <a:t>Altitude, speed, FPS, boost, threat gap.</a:t>
            </a:r>
          </a:p>
          <a:p>
            <a:pPr algn="l">
              <a:lnSpc>
                <a:spcPct val="100000"/>
              </a:lnSpc>
              <a:spcBef>
                <a:spcPts val="0"/>
              </a:spcBef>
              <a:spcAft>
                <a:spcPts val="0"/>
              </a:spcAft>
            </a:pPr>
            <a:r>
              <a:rPr sz="1600" b="0">
                <a:solidFill>
                  <a:srgbClr val="F0E9DA"/>
                </a:solidFill>
                <a:latin typeface="Arial"/>
              </a:rPr>
              <a:t>North-up radar: cyan aircraft/base; amber crew;</a:t>
            </a:r>
          </a:p>
          <a:p>
            <a:pPr algn="l">
              <a:lnSpc>
                <a:spcPct val="100000"/>
              </a:lnSpc>
              <a:spcBef>
                <a:spcPts val="0"/>
              </a:spcBef>
              <a:spcAft>
                <a:spcPts val="0"/>
              </a:spcAft>
            </a:pPr>
            <a:r>
              <a:rPr sz="1600" b="0">
                <a:solidFill>
                  <a:srgbClr val="F0E9DA"/>
                </a:solidFill>
                <a:latin typeface="Arial"/>
              </a:rPr>
              <a:t>white harvester; red worm; world range +/-300.</a:t>
            </a:r>
          </a:p>
          <a:p>
            <a:pPr algn="l">
              <a:lnSpc>
                <a:spcPct val="100000"/>
              </a:lnSpc>
              <a:spcBef>
                <a:spcPts val="0"/>
              </a:spcBef>
              <a:spcAft>
                <a:spcPts val="0"/>
              </a:spcAft>
            </a:pPr>
            <a:r>
              <a:rPr sz="1600" b="0">
                <a:solidFill>
                  <a:srgbClr val="F0E9DA"/>
                </a:solidFill>
                <a:latin typeface="Arial"/>
              </a:rPr>
              <a:t>Adaptive layout and camera guide brackets.</a:t>
            </a:r>
          </a:p>
        </p:txBody>
      </p:sp>
      <p:pic>
        <p:nvPicPr>
          <p:cNvPr id="14" name="Picture 13" descr="action_crop.png"/>
          <p:cNvPicPr>
            <a:picLocks noChangeAspect="1"/>
          </p:cNvPicPr>
          <p:nvPr/>
        </p:nvPicPr>
        <p:blipFill>
          <a:blip r:embed="rId6"/>
          <a:srcRect l="249" r="249"/>
          <a:stretch>
            <a:fillRect/>
          </a:stretch>
        </p:blipFill>
        <p:spPr>
          <a:xfrm>
            <a:off x="548640" y="6702552"/>
            <a:ext cx="7726679" cy="630936"/>
          </a:xfrm>
          <a:prstGeom prst="rect">
            <a:avLst/>
          </a:prstGeom>
        </p:spPr>
      </p:pic>
      <p:sp>
        <p:nvSpPr>
          <p:cNvPr id="15" name="TextBox 14"/>
          <p:cNvSpPr txBox="1"/>
          <p:nvPr/>
        </p:nvSpPr>
        <p:spPr>
          <a:xfrm>
            <a:off x="548640" y="7397496"/>
            <a:ext cx="7772400" cy="310896"/>
          </a:xfrm>
          <a:prstGeom prst="rect">
            <a:avLst/>
          </a:prstGeom>
          <a:noFill/>
        </p:spPr>
        <p:txBody>
          <a:bodyPr wrap="square" lIns="0" tIns="0" rIns="0" bIns="0" anchor="t">
            <a:noAutofit/>
          </a:bodyPr>
          <a:lstStyle/>
          <a:p>
            <a:pPr algn="l">
              <a:lnSpc>
                <a:spcPct val="100000"/>
              </a:lnSpc>
              <a:spcBef>
                <a:spcPts val="0"/>
              </a:spcBef>
              <a:spcAft>
                <a:spcPts val="0"/>
              </a:spcAft>
            </a:pPr>
            <a:r>
              <a:rPr sz="1400" b="0">
                <a:solidFill>
                  <a:srgbClr val="ACB9BA"/>
                </a:solidFill>
                <a:latin typeface="Arial"/>
              </a:rPr>
              <a:t>Context prompts; title/pause/debrief panels; delivery-only score; session best.</a:t>
            </a:r>
          </a:p>
        </p:txBody>
      </p:sp>
      <p:cxnSp>
        <p:nvCxnSpPr>
          <p:cNvPr id="16" name="Connector 15"/>
          <p:cNvCxnSpPr/>
          <p:nvPr/>
        </p:nvCxnSpPr>
        <p:spPr>
          <a:xfrm>
            <a:off x="8631936" y="1911095"/>
            <a:ext cx="0" cy="5650993"/>
          </a:xfrm>
          <a:prstGeom prst="line">
            <a:avLst/>
          </a:prstGeom>
          <a:ln w="19050">
            <a:solidFill>
              <a:srgbClr val="42545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961120" y="1920240"/>
            <a:ext cx="5074920" cy="320040"/>
          </a:xfrm>
          <a:prstGeom prst="rect">
            <a:avLst/>
          </a:prstGeom>
          <a:noFill/>
        </p:spPr>
        <p:txBody>
          <a:bodyPr wrap="square" lIns="0" tIns="0" rIns="0" bIns="0" anchor="t">
            <a:noAutofit/>
          </a:bodyPr>
          <a:lstStyle/>
          <a:p>
            <a:pPr algn="l">
              <a:lnSpc>
                <a:spcPct val="100000"/>
              </a:lnSpc>
              <a:spcBef>
                <a:spcPts val="0"/>
              </a:spcBef>
              <a:spcAft>
                <a:spcPts val="0"/>
              </a:spcAft>
            </a:pPr>
            <a:r>
              <a:rPr sz="2100" b="1">
                <a:solidFill>
                  <a:srgbClr val="D5A45E"/>
                </a:solidFill>
                <a:latin typeface="Arial"/>
              </a:rPr>
              <a:t>8 SPATIAL SOUND EFFECTS</a:t>
            </a:r>
          </a:p>
        </p:txBody>
      </p:sp>
      <p:sp>
        <p:nvSpPr>
          <p:cNvPr id="18" name="TextBox 17"/>
          <p:cNvSpPr txBox="1"/>
          <p:nvPr/>
        </p:nvSpPr>
        <p:spPr>
          <a:xfrm>
            <a:off x="8979408" y="2414016"/>
            <a:ext cx="5056632" cy="1078992"/>
          </a:xfrm>
          <a:prstGeom prst="rect">
            <a:avLst/>
          </a:prstGeom>
          <a:noFill/>
        </p:spPr>
        <p:txBody>
          <a:bodyPr wrap="square" lIns="0" tIns="0" rIns="0" bIns="0" anchor="t">
            <a:noAutofit/>
          </a:bodyPr>
          <a:lstStyle/>
          <a:p>
            <a:pPr algn="l">
              <a:lnSpc>
                <a:spcPct val="100000"/>
              </a:lnSpc>
              <a:spcBef>
                <a:spcPts val="0"/>
              </a:spcBef>
              <a:spcAft>
                <a:spcPts val="0"/>
              </a:spcAft>
            </a:pPr>
            <a:r>
              <a:rPr sz="1650" b="0">
                <a:solidFill>
                  <a:srgbClr val="F0E9DA"/>
                </a:solidFill>
                <a:latin typeface="Arial"/>
              </a:rPr>
              <a:t>Loops: flight / boost / harvester / worm rumble.</a:t>
            </a:r>
          </a:p>
          <a:p>
            <a:pPr algn="l">
              <a:lnSpc>
                <a:spcPct val="100000"/>
              </a:lnSpc>
              <a:spcBef>
                <a:spcPts val="0"/>
              </a:spcBef>
              <a:spcAft>
                <a:spcPts val="0"/>
              </a:spcAft>
            </a:pPr>
            <a:r>
              <a:rPr sz="1650" b="0">
                <a:solidFill>
                  <a:srgbClr val="F0E9DA"/>
                </a:solidFill>
                <a:latin typeface="Arial"/>
              </a:rPr>
              <a:t>Events: breach / winch / safe delivery / crew help.</a:t>
            </a:r>
          </a:p>
          <a:p>
            <a:pPr algn="l">
              <a:lnSpc>
                <a:spcPct val="100000"/>
              </a:lnSpc>
              <a:spcBef>
                <a:spcPts val="0"/>
              </a:spcBef>
              <a:spcAft>
                <a:spcPts val="0"/>
              </a:spcAft>
            </a:pPr>
            <a:r>
              <a:rPr sz="1650" b="0">
                <a:solidFill>
                  <a:srgbClr val="F0E9DA"/>
                </a:solidFill>
                <a:latin typeface="Arial"/>
              </a:rPr>
              <a:t>Camera listener; distance attenuation; speed pitch;</a:t>
            </a:r>
          </a:p>
          <a:p>
            <a:pPr algn="l">
              <a:lnSpc>
                <a:spcPct val="100000"/>
              </a:lnSpc>
              <a:spcBef>
                <a:spcPts val="0"/>
              </a:spcBef>
              <a:spcAft>
                <a:spcPts val="0"/>
              </a:spcAft>
            </a:pPr>
            <a:r>
              <a:rPr sz="1650" b="0">
                <a:solidFill>
                  <a:srgbClr val="F0E9DA"/>
                </a:solidFill>
                <a:latin typeface="Arial"/>
              </a:rPr>
              <a:t>boost/threat volume; mute and pause silencing.</a:t>
            </a:r>
          </a:p>
        </p:txBody>
      </p:sp>
      <p:sp>
        <p:nvSpPr>
          <p:cNvPr id="19" name="TextBox 18"/>
          <p:cNvSpPr txBox="1"/>
          <p:nvPr/>
        </p:nvSpPr>
        <p:spPr>
          <a:xfrm>
            <a:off x="8979408" y="3538728"/>
            <a:ext cx="5074920" cy="612648"/>
          </a:xfrm>
          <a:prstGeom prst="rect">
            <a:avLst/>
          </a:prstGeom>
          <a:noFill/>
        </p:spPr>
        <p:txBody>
          <a:bodyPr wrap="square" lIns="0" tIns="0" rIns="0" bIns="0" anchor="t">
            <a:noAutofit/>
          </a:bodyPr>
          <a:lstStyle/>
          <a:p>
            <a:pPr algn="l">
              <a:lnSpc>
                <a:spcPct val="100000"/>
              </a:lnSpc>
              <a:spcBef>
                <a:spcPts val="0"/>
              </a:spcBef>
              <a:spcAft>
                <a:spcPts val="0"/>
              </a:spcAft>
            </a:pPr>
            <a:r>
              <a:rPr sz="1600" b="0">
                <a:solidFill>
                  <a:srgbClr val="ACB9BA"/>
                </a:solidFill>
                <a:latin typeface="Arial"/>
              </a:rPr>
              <a:t>Silent fallback; focus pause and cursor recentering.</a:t>
            </a:r>
          </a:p>
          <a:p>
            <a:pPr algn="l">
              <a:lnSpc>
                <a:spcPct val="100000"/>
              </a:lnSpc>
              <a:spcBef>
                <a:spcPts val="0"/>
              </a:spcBef>
              <a:spcAft>
                <a:spcPts val="0"/>
              </a:spcAft>
            </a:pPr>
            <a:r>
              <a:rPr sz="1600" b="0">
                <a:solidFill>
                  <a:srgbClr val="ACB9BA"/>
                </a:solidFill>
                <a:latin typeface="Arial"/>
              </a:rPr>
              <a:t>Fullscreen/resize; minimized waiting; substeps.</a:t>
            </a:r>
          </a:p>
        </p:txBody>
      </p:sp>
      <p:cxnSp>
        <p:nvCxnSpPr>
          <p:cNvPr id="20" name="Connector 19"/>
          <p:cNvCxnSpPr/>
          <p:nvPr/>
        </p:nvCxnSpPr>
        <p:spPr>
          <a:xfrm>
            <a:off x="8961120" y="4288536"/>
            <a:ext cx="5029200" cy="0"/>
          </a:xfrm>
          <a:prstGeom prst="line">
            <a:avLst/>
          </a:prstGeom>
          <a:ln w="19050">
            <a:solidFill>
              <a:srgbClr val="42545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961120" y="4462272"/>
            <a:ext cx="5074920" cy="329184"/>
          </a:xfrm>
          <a:prstGeom prst="rect">
            <a:avLst/>
          </a:prstGeom>
          <a:noFill/>
        </p:spPr>
        <p:txBody>
          <a:bodyPr wrap="square" lIns="0" tIns="0" rIns="0" bIns="0" anchor="t">
            <a:noAutofit/>
          </a:bodyPr>
          <a:lstStyle/>
          <a:p>
            <a:pPr algn="l">
              <a:lnSpc>
                <a:spcPct val="100000"/>
              </a:lnSpc>
              <a:spcBef>
                <a:spcPts val="0"/>
              </a:spcBef>
              <a:spcAft>
                <a:spcPts val="0"/>
              </a:spcAft>
            </a:pPr>
            <a:r>
              <a:rPr sz="1900" b="1">
                <a:solidFill>
                  <a:srgbClr val="58CFD1"/>
                </a:solidFill>
                <a:latin typeface="Arial"/>
              </a:rPr>
              <a:t>ENGINEERING + CURRENT VERIFICATION</a:t>
            </a:r>
          </a:p>
        </p:txBody>
      </p:sp>
      <p:sp>
        <p:nvSpPr>
          <p:cNvPr id="22" name="TextBox 21"/>
          <p:cNvSpPr txBox="1"/>
          <p:nvPr/>
        </p:nvSpPr>
        <p:spPr>
          <a:xfrm>
            <a:off x="8961120" y="4956048"/>
            <a:ext cx="5074920" cy="1097280"/>
          </a:xfrm>
          <a:prstGeom prst="rect">
            <a:avLst/>
          </a:prstGeom>
          <a:noFill/>
        </p:spPr>
        <p:txBody>
          <a:bodyPr wrap="square" lIns="0" tIns="0" rIns="0" bIns="0" anchor="t">
            <a:noAutofit/>
          </a:bodyPr>
          <a:lstStyle/>
          <a:p>
            <a:pPr algn="l">
              <a:lnSpc>
                <a:spcPct val="100000"/>
              </a:lnSpc>
              <a:spcBef>
                <a:spcPts val="0"/>
              </a:spcBef>
              <a:spcAft>
                <a:spcPts val="0"/>
              </a:spcAft>
            </a:pPr>
            <a:r>
              <a:rPr sz="1650" b="0" dirty="0">
                <a:solidFill>
                  <a:srgbClr val="F0E9DA"/>
                </a:solidFill>
                <a:latin typeface="Arial"/>
              </a:rPr>
              <a:t>C++17 / GLFW / GLAD / GLM / </a:t>
            </a:r>
            <a:r>
              <a:rPr sz="1650" b="0" dirty="0" err="1">
                <a:solidFill>
                  <a:srgbClr val="F0E9DA"/>
                </a:solidFill>
                <a:latin typeface="Arial"/>
              </a:rPr>
              <a:t>miniaudio</a:t>
            </a:r>
            <a:r>
              <a:rPr sz="1650" b="0" dirty="0">
                <a:solidFill>
                  <a:srgbClr val="F0E9DA"/>
                </a:solidFill>
                <a:latin typeface="Arial"/>
              </a:rPr>
              <a:t>.</a:t>
            </a:r>
          </a:p>
          <a:p>
            <a:pPr algn="l">
              <a:lnSpc>
                <a:spcPct val="100000"/>
              </a:lnSpc>
              <a:spcBef>
                <a:spcPts val="0"/>
              </a:spcBef>
              <a:spcAft>
                <a:spcPts val="0"/>
              </a:spcAft>
            </a:pPr>
            <a:r>
              <a:rPr sz="1650" b="0" dirty="0" err="1">
                <a:solidFill>
                  <a:srgbClr val="F0E9DA"/>
                </a:solidFill>
                <a:latin typeface="Arial"/>
              </a:rPr>
              <a:t>CMake</a:t>
            </a:r>
            <a:r>
              <a:rPr sz="1650" b="0" dirty="0">
                <a:solidFill>
                  <a:srgbClr val="F0E9DA"/>
                </a:solidFill>
                <a:latin typeface="Arial"/>
              </a:rPr>
              <a:t> + Visual Studio; audio copied post-build.</a:t>
            </a:r>
          </a:p>
          <a:p>
            <a:pPr algn="l">
              <a:lnSpc>
                <a:spcPct val="100000"/>
              </a:lnSpc>
              <a:spcBef>
                <a:spcPts val="0"/>
              </a:spcBef>
              <a:spcAft>
                <a:spcPts val="0"/>
              </a:spcAft>
            </a:pPr>
            <a:r>
              <a:rPr sz="1650" b="0" dirty="0">
                <a:solidFill>
                  <a:srgbClr val="F0E9DA"/>
                </a:solidFill>
                <a:latin typeface="Arial"/>
              </a:rPr>
              <a:t>Procedural startup meshes and embedded GLSL.</a:t>
            </a:r>
          </a:p>
        </p:txBody>
      </p:sp>
      <p:sp>
        <p:nvSpPr>
          <p:cNvPr id="23" name="TextBox 22"/>
          <p:cNvSpPr txBox="1"/>
          <p:nvPr/>
        </p:nvSpPr>
        <p:spPr>
          <a:xfrm>
            <a:off x="8961120" y="6117336"/>
            <a:ext cx="5029200" cy="374904"/>
          </a:xfrm>
          <a:prstGeom prst="rect">
            <a:avLst/>
          </a:prstGeom>
          <a:noFill/>
        </p:spPr>
        <p:txBody>
          <a:bodyPr wrap="square" lIns="0" tIns="0" rIns="0" bIns="0" anchor="t">
            <a:noAutofit/>
          </a:bodyPr>
          <a:lstStyle/>
          <a:p>
            <a:pPr algn="l">
              <a:lnSpc>
                <a:spcPct val="100000"/>
              </a:lnSpc>
              <a:spcBef>
                <a:spcPts val="0"/>
              </a:spcBef>
              <a:spcAft>
                <a:spcPts val="0"/>
              </a:spcAft>
            </a:pPr>
            <a:r>
              <a:rPr sz="2100" b="1">
                <a:solidFill>
                  <a:srgbClr val="F0E9DA"/>
                </a:solidFill>
                <a:latin typeface="Arial"/>
              </a:rPr>
              <a:t>4 / 4 graphical smoke modes passed</a:t>
            </a:r>
          </a:p>
        </p:txBody>
      </p:sp>
      <p:sp>
        <p:nvSpPr>
          <p:cNvPr id="24" name="TextBox 23"/>
          <p:cNvSpPr txBox="1"/>
          <p:nvPr/>
        </p:nvSpPr>
        <p:spPr>
          <a:xfrm>
            <a:off x="8961120" y="6592824"/>
            <a:ext cx="5029200" cy="384048"/>
          </a:xfrm>
          <a:prstGeom prst="rect">
            <a:avLst/>
          </a:prstGeom>
          <a:noFill/>
        </p:spPr>
        <p:txBody>
          <a:bodyPr wrap="square" lIns="0" tIns="0" rIns="0" bIns="0" anchor="t">
            <a:noAutofit/>
          </a:bodyPr>
          <a:lstStyle/>
          <a:p>
            <a:pPr algn="l">
              <a:lnSpc>
                <a:spcPct val="100000"/>
              </a:lnSpc>
              <a:spcBef>
                <a:spcPts val="0"/>
              </a:spcBef>
              <a:spcAft>
                <a:spcPts val="0"/>
              </a:spcAft>
            </a:pPr>
            <a:r>
              <a:rPr sz="1900" b="1">
                <a:solidFill>
                  <a:srgbClr val="D5A45E"/>
                </a:solidFill>
                <a:latin typeface="Arial"/>
              </a:rPr>
              <a:t>23 / 27 mission cases; 1,057 checks</a:t>
            </a:r>
          </a:p>
        </p:txBody>
      </p:sp>
      <p:sp>
        <p:nvSpPr>
          <p:cNvPr id="25" name="TextBox 24"/>
          <p:cNvSpPr txBox="1"/>
          <p:nvPr/>
        </p:nvSpPr>
        <p:spPr>
          <a:xfrm>
            <a:off x="8961120" y="7077456"/>
            <a:ext cx="5065776" cy="576072"/>
          </a:xfrm>
          <a:prstGeom prst="rect">
            <a:avLst/>
          </a:prstGeom>
          <a:noFill/>
        </p:spPr>
        <p:txBody>
          <a:bodyPr wrap="square" lIns="0" tIns="0" rIns="0" bIns="0" anchor="t">
            <a:noAutofit/>
          </a:bodyPr>
          <a:lstStyle/>
          <a:p>
            <a:pPr algn="l">
              <a:lnSpc>
                <a:spcPct val="100000"/>
              </a:lnSpc>
              <a:spcBef>
                <a:spcPts val="0"/>
              </a:spcBef>
              <a:spcAft>
                <a:spcPts val="0"/>
              </a:spcAft>
            </a:pPr>
            <a:r>
              <a:rPr sz="1500" b="0" dirty="0">
                <a:solidFill>
                  <a:srgbClr val="F39472"/>
                </a:solidFill>
                <a:latin typeface="Arial"/>
              </a:rPr>
              <a:t>Current timer is 150 s; five assertions fail because</a:t>
            </a:r>
          </a:p>
          <a:p>
            <a:pPr algn="l">
              <a:lnSpc>
                <a:spcPct val="100000"/>
              </a:lnSpc>
              <a:spcBef>
                <a:spcPts val="0"/>
              </a:spcBef>
              <a:spcAft>
                <a:spcPts val="0"/>
              </a:spcAft>
            </a:pPr>
            <a:r>
              <a:rPr sz="1500" b="0" dirty="0">
                <a:solidFill>
                  <a:srgbClr val="F39472"/>
                </a:solidFill>
                <a:latin typeface="Arial"/>
              </a:rPr>
              <a:t>tests expect 210-to-150 progression. Source untouched.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181E"/>
        </a:solidFill>
        <a:effectLst/>
      </p:bgPr>
    </p:bg>
    <p:spTree>
      <p:nvGrpSpPr>
        <p:cNvPr id="1" name=""/>
        <p:cNvGrpSpPr/>
        <p:nvPr/>
      </p:nvGrpSpPr>
      <p:grpSpPr>
        <a:xfrm>
          <a:off x="0" y="0"/>
          <a:ext cx="0" cy="0"/>
          <a:chOff x="0" y="0"/>
          <a:chExt cx="0" cy="0"/>
        </a:xfrm>
      </p:grpSpPr>
      <p:pic>
        <p:nvPicPr>
          <p:cNvPr id="2" name="Picture 1" descr="pursuit.png"/>
          <p:cNvPicPr>
            <a:picLocks noChangeAspect="1"/>
          </p:cNvPicPr>
          <p:nvPr/>
        </p:nvPicPr>
        <p:blipFill>
          <a:blip r:embed="rId3"/>
          <a:srcRect/>
          <a:stretch>
            <a:fillRect/>
          </a:stretch>
        </p:blipFill>
        <p:spPr>
          <a:xfrm>
            <a:off x="0" y="0"/>
            <a:ext cx="14630400" cy="8229600"/>
          </a:xfrm>
          <a:prstGeom prst="rect">
            <a:avLst/>
          </a:prstGeom>
        </p:spPr>
      </p:pic>
      <p:sp>
        <p:nvSpPr>
          <p:cNvPr id="3" name="Rectangle 2"/>
          <p:cNvSpPr/>
          <p:nvPr/>
        </p:nvSpPr>
        <p:spPr>
          <a:xfrm>
            <a:off x="0" y="0"/>
            <a:ext cx="14630400" cy="2468880"/>
          </a:xfrm>
          <a:prstGeom prst="rect">
            <a:avLst/>
          </a:prstGeom>
          <a:solidFill>
            <a:srgbClr val="10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166360"/>
            <a:ext cx="14630400" cy="3063240"/>
          </a:xfrm>
          <a:prstGeom prst="rect">
            <a:avLst/>
          </a:prstGeom>
          <a:solidFill>
            <a:srgbClr val="10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402336"/>
            <a:ext cx="13533120" cy="283464"/>
          </a:xfrm>
          <a:prstGeom prst="rect">
            <a:avLst/>
          </a:prstGeom>
          <a:noFill/>
        </p:spPr>
        <p:txBody>
          <a:bodyPr wrap="square" lIns="0" tIns="0" rIns="0" bIns="0" anchor="t">
            <a:noAutofit/>
          </a:bodyPr>
          <a:lstStyle/>
          <a:p>
            <a:pPr algn="l">
              <a:lnSpc>
                <a:spcPct val="100000"/>
              </a:lnSpc>
              <a:spcBef>
                <a:spcPts val="0"/>
              </a:spcBef>
              <a:spcAft>
                <a:spcPts val="0"/>
              </a:spcAft>
            </a:pPr>
            <a:r>
              <a:rPr sz="1300" b="1" dirty="0">
                <a:solidFill>
                  <a:srgbClr val="D5A45E"/>
                </a:solidFill>
                <a:latin typeface="Arial"/>
              </a:rPr>
              <a:t>10 / CLOSING REMARKS</a:t>
            </a:r>
          </a:p>
        </p:txBody>
      </p:sp>
      <p:sp>
        <p:nvSpPr>
          <p:cNvPr id="6" name="TextBox 5"/>
          <p:cNvSpPr txBox="1"/>
          <p:nvPr/>
        </p:nvSpPr>
        <p:spPr>
          <a:xfrm>
            <a:off x="548640" y="996696"/>
            <a:ext cx="13350240" cy="1152144"/>
          </a:xfrm>
          <a:prstGeom prst="rect">
            <a:avLst/>
          </a:prstGeom>
          <a:noFill/>
        </p:spPr>
        <p:txBody>
          <a:bodyPr wrap="square" lIns="0" tIns="0" rIns="0" bIns="0" anchor="t">
            <a:noAutofit/>
          </a:bodyPr>
          <a:lstStyle/>
          <a:p>
            <a:pPr algn="l">
              <a:lnSpc>
                <a:spcPct val="100000"/>
              </a:lnSpc>
              <a:spcBef>
                <a:spcPts val="0"/>
              </a:spcBef>
              <a:spcAft>
                <a:spcPts val="0"/>
              </a:spcAft>
            </a:pPr>
            <a:r>
              <a:rPr sz="7400" b="1">
                <a:solidFill>
                  <a:srgbClr val="F0E9DA"/>
                </a:solidFill>
                <a:latin typeface="Bahnschrift"/>
              </a:rPr>
              <a:t>THANK YOU</a:t>
            </a:r>
          </a:p>
        </p:txBody>
      </p:sp>
      <p:sp>
        <p:nvSpPr>
          <p:cNvPr id="7" name="TextBox 6"/>
          <p:cNvSpPr txBox="1"/>
          <p:nvPr/>
        </p:nvSpPr>
        <p:spPr>
          <a:xfrm>
            <a:off x="594360" y="5394960"/>
            <a:ext cx="13441680" cy="502920"/>
          </a:xfrm>
          <a:prstGeom prst="rect">
            <a:avLst/>
          </a:prstGeom>
          <a:noFill/>
        </p:spPr>
        <p:txBody>
          <a:bodyPr wrap="square" lIns="0" tIns="0" rIns="0" bIns="0" anchor="t">
            <a:noAutofit/>
          </a:bodyPr>
          <a:lstStyle/>
          <a:p>
            <a:pPr algn="l">
              <a:lnSpc>
                <a:spcPct val="100000"/>
              </a:lnSpc>
              <a:spcBef>
                <a:spcPts val="0"/>
              </a:spcBef>
              <a:spcAft>
                <a:spcPts val="0"/>
              </a:spcAft>
            </a:pPr>
            <a:r>
              <a:rPr sz="2600" b="1">
                <a:solidFill>
                  <a:srgbClr val="F0E9DA"/>
                </a:solidFill>
                <a:latin typeface="Arial"/>
              </a:rPr>
              <a:t>Procedural geometry. Mathematical motion. A controllable rescue mission.</a:t>
            </a:r>
          </a:p>
        </p:txBody>
      </p:sp>
      <p:sp>
        <p:nvSpPr>
          <p:cNvPr id="8" name="TextBox 7"/>
          <p:cNvSpPr txBox="1"/>
          <p:nvPr/>
        </p:nvSpPr>
        <p:spPr>
          <a:xfrm>
            <a:off x="594360" y="6108192"/>
            <a:ext cx="13167360" cy="502920"/>
          </a:xfrm>
          <a:prstGeom prst="rect">
            <a:avLst/>
          </a:prstGeom>
          <a:noFill/>
        </p:spPr>
        <p:txBody>
          <a:bodyPr wrap="square" lIns="0" tIns="0" rIns="0" bIns="0" anchor="t">
            <a:noAutofit/>
          </a:bodyPr>
          <a:lstStyle/>
          <a:p>
            <a:pPr algn="l">
              <a:lnSpc>
                <a:spcPct val="100000"/>
              </a:lnSpc>
              <a:spcBef>
                <a:spcPts val="0"/>
              </a:spcBef>
              <a:spcAft>
                <a:spcPts val="0"/>
              </a:spcAft>
            </a:pPr>
            <a:r>
              <a:rPr sz="1800" b="0">
                <a:solidFill>
                  <a:srgbClr val="D5A45E"/>
                </a:solidFill>
                <a:latin typeface="Arial"/>
              </a:rPr>
              <a:t>Asique Ehetasamul Haque  |  Roll 2107096  |  CSE - 4102  |  Year 4th, Semester 1st, Group B2</a:t>
            </a:r>
          </a:p>
        </p:txBody>
      </p:sp>
      <p:sp>
        <p:nvSpPr>
          <p:cNvPr id="9" name="TextBox 8"/>
          <p:cNvSpPr txBox="1"/>
          <p:nvPr/>
        </p:nvSpPr>
        <p:spPr>
          <a:xfrm>
            <a:off x="594360" y="6812280"/>
            <a:ext cx="12984480" cy="411480"/>
          </a:xfrm>
          <a:prstGeom prst="rect">
            <a:avLst/>
          </a:prstGeom>
          <a:noFill/>
        </p:spPr>
        <p:txBody>
          <a:bodyPr wrap="square" lIns="0" tIns="0" rIns="0" bIns="0" anchor="t">
            <a:noAutofit/>
          </a:bodyPr>
          <a:lstStyle/>
          <a:p>
            <a:pPr algn="l">
              <a:lnSpc>
                <a:spcPct val="100000"/>
              </a:lnSpc>
              <a:spcBef>
                <a:spcPts val="0"/>
              </a:spcBef>
              <a:spcAft>
                <a:spcPts val="0"/>
              </a:spcAft>
            </a:pPr>
            <a:r>
              <a:rPr sz="1800" b="0" dirty="0">
                <a:solidFill>
                  <a:srgbClr val="F0E9DA"/>
                </a:solidFill>
                <a:latin typeface="Arial"/>
              </a:rPr>
              <a:t>Objects, curved equations, dynamic scenes, cameras, interaction, shadows, surface detail, dust, HUD and sound.</a:t>
            </a:r>
          </a:p>
        </p:txBody>
      </p:sp>
      <p:sp>
        <p:nvSpPr>
          <p:cNvPr id="10" name="TextBox 9"/>
          <p:cNvSpPr txBox="1"/>
          <p:nvPr/>
        </p:nvSpPr>
        <p:spPr>
          <a:xfrm>
            <a:off x="594360" y="7415783"/>
            <a:ext cx="13258800" cy="475488"/>
          </a:xfrm>
          <a:prstGeom prst="rect">
            <a:avLst/>
          </a:prstGeom>
          <a:noFill/>
        </p:spPr>
        <p:txBody>
          <a:bodyPr wrap="square" lIns="0" tIns="0" rIns="0" bIns="0" anchor="t">
            <a:noAutofit/>
          </a:bodyPr>
          <a:lstStyle/>
          <a:p>
            <a:pPr algn="l">
              <a:lnSpc>
                <a:spcPct val="100000"/>
              </a:lnSpc>
              <a:spcBef>
                <a:spcPts val="0"/>
              </a:spcBef>
              <a:spcAft>
                <a:spcPts val="0"/>
              </a:spcAft>
            </a:pPr>
            <a:endParaRPr sz="1400" b="0" dirty="0">
              <a:solidFill>
                <a:srgbClr val="ACB9BA"/>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5565</Words>
  <Application>Microsoft Office PowerPoint</Application>
  <PresentationFormat>Custom</PresentationFormat>
  <Paragraphs>320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Bahnschrift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Arrakis: Harvester Down</dc:title>
  <dc:subject>CSE 4102 - Computer Graphics and Image Processing Laboratory</dc:subject>
  <dc:creator>Asique Ehetasamul Haque</dc:creator>
  <cp:keywords>Procedural graphics, controllable rescue, OpenGL, CSE 4102</cp:keywords>
  <dc:description>generated using python-pptx</dc:description>
  <cp:lastModifiedBy>Asique Ehety</cp:lastModifiedBy>
  <cp:revision>5</cp:revision>
  <dcterms:created xsi:type="dcterms:W3CDTF">2013-01-27T09:14:16Z</dcterms:created>
  <dcterms:modified xsi:type="dcterms:W3CDTF">2026-10-10T17:46:49Z</dcterms:modified>
  <cp:category/>
</cp:coreProperties>
</file>